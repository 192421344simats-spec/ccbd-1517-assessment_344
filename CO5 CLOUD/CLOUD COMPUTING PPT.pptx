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793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1: Opening and team identity.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2: Executive Summary.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3: Research Evidence and Gap.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4: Technical Problem Definition.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5: User and Industry Context.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6: Engineering Objectives and Acceptance Criteria.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7: Cloud System Architecture.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8: Module 1: Functional Scope.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9: Module 1: Technical Design.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10: Module 1: Implementation Evidence.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11: Module 2: Functional Scope.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12: Module 2: Technical Design.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13: Module 2: Implementation Evidence.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14: Module 3: Functional Scope.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15: Module 3: Technical Design.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16: Module 3: Implementation Evidence.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17: Integrated Product Implementation.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18: Deployment and Functional Flow.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19: Results and Performance Evaluation.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20: Test and Validation Evidence.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21: Security, Privacy, Sustainability and Standards.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22: Conclusion and Production Roadmap.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23: References and Project Artefacts.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24: Final Infrastructure Defense.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>
            <a:extLst>
              <a:ext uri="{FF2B5EF4-FFF2-40B4-BE49-F238E27FC236}">
                <a16:creationId xmlns:a16="http://schemas.microsoft.com/office/drawing/2014/main" id="{35E5E9F0-4F9B-4C87-A8C5-3C4EFCC1C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12" name="Body Level One…">
            <a:extLst>
              <a:ext uri="{FF2B5EF4-FFF2-40B4-BE49-F238E27FC236}">
                <a16:creationId xmlns:a16="http://schemas.microsoft.com/office/drawing/2014/main" id="{572D03A0-3306-474A-83C3-7B7E9840F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8FDC76A9-B867-4711-95EE-73B667B99A3F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>
            <a:extLst>
              <a:ext uri="{FF2B5EF4-FFF2-40B4-BE49-F238E27FC236}">
                <a16:creationId xmlns:a16="http://schemas.microsoft.com/office/drawing/2014/main" id="{B6E12924-EF0A-4026-AB55-9DDA047D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21" name="Body Level One…">
            <a:extLst>
              <a:ext uri="{FF2B5EF4-FFF2-40B4-BE49-F238E27FC236}">
                <a16:creationId xmlns:a16="http://schemas.microsoft.com/office/drawing/2014/main" id="{EB88FEB4-EA11-4BB9-86C0-D441E2D71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90A9A68B-ED9C-40B2-AB6E-399E556B891E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>
            <a:extLst>
              <a:ext uri="{FF2B5EF4-FFF2-40B4-BE49-F238E27FC236}">
                <a16:creationId xmlns:a16="http://schemas.microsoft.com/office/drawing/2014/main" id="{C78BDED7-76C4-4691-A5FD-3EB6CE735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30" name="Body Level One…">
            <a:extLst>
              <a:ext uri="{FF2B5EF4-FFF2-40B4-BE49-F238E27FC236}">
                <a16:creationId xmlns:a16="http://schemas.microsoft.com/office/drawing/2014/main" id="{D1AC094E-01D4-4856-9DEC-D3FD0B34B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31" name="Slide Number">
            <a:extLst>
              <a:ext uri="{FF2B5EF4-FFF2-40B4-BE49-F238E27FC236}">
                <a16:creationId xmlns:a16="http://schemas.microsoft.com/office/drawing/2014/main" id="{EB3A3908-1546-41E2-824E-5DAEBE289CCA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>
            <a:extLst>
              <a:ext uri="{FF2B5EF4-FFF2-40B4-BE49-F238E27FC236}">
                <a16:creationId xmlns:a16="http://schemas.microsoft.com/office/drawing/2014/main" id="{BB8331ED-CB07-47F0-8D28-01A062383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9" name="Body Level One…">
            <a:extLst>
              <a:ext uri="{FF2B5EF4-FFF2-40B4-BE49-F238E27FC236}">
                <a16:creationId xmlns:a16="http://schemas.microsoft.com/office/drawing/2014/main" id="{DB063720-8378-4A20-B491-F9596E6E5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buNone/>
              <a:defRPr sz="2800"/>
            </a:lvl1pPr>
            <a:lvl2pPr marL="790575" indent="-333375">
              <a:spcBef>
                <a:spcPts val="600"/>
              </a:spcBef>
              <a:buNone/>
              <a:defRPr sz="2800"/>
            </a:lvl2pPr>
            <a:lvl3pPr marL="1234439" indent="-320039">
              <a:spcBef>
                <a:spcPts val="600"/>
              </a:spcBef>
              <a:buNone/>
              <a:defRPr sz="2800"/>
            </a:lvl3pPr>
            <a:lvl4pPr marL="1727200" indent="-355600">
              <a:spcBef>
                <a:spcPts val="600"/>
              </a:spcBef>
              <a:buNone/>
              <a:defRPr sz="2800"/>
            </a:lvl4pPr>
            <a:lvl5pPr marL="2184400" indent="-355600">
              <a:spcBef>
                <a:spcPts val="600"/>
              </a:spcBef>
              <a:buNone/>
              <a:defRPr sz="2800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0" name="Slide Number">
            <a:extLst>
              <a:ext uri="{FF2B5EF4-FFF2-40B4-BE49-F238E27FC236}">
                <a16:creationId xmlns:a16="http://schemas.microsoft.com/office/drawing/2014/main" id="{38C7633E-B2BD-43E0-8FEE-72579D22309D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>
            <a:extLst>
              <a:ext uri="{FF2B5EF4-FFF2-40B4-BE49-F238E27FC236}">
                <a16:creationId xmlns:a16="http://schemas.microsoft.com/office/drawing/2014/main" id="{774F9EA8-1645-4E4C-8413-ABA10094B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48" name="Body Level One…">
            <a:extLst>
              <a:ext uri="{FF2B5EF4-FFF2-40B4-BE49-F238E27FC236}">
                <a16:creationId xmlns:a16="http://schemas.microsoft.com/office/drawing/2014/main" id="{424367F7-1DEF-4238-984A-096C831EF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2822DD50-DC36-4807-892B-7C21EF7D9A5E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>
            <a:extLst>
              <a:ext uri="{FF2B5EF4-FFF2-40B4-BE49-F238E27FC236}">
                <a16:creationId xmlns:a16="http://schemas.microsoft.com/office/drawing/2014/main" id="{A33ED568-8878-408F-AEB6-1F2D4FC7B93C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>
            <a:extLst>
              <a:ext uri="{FF2B5EF4-FFF2-40B4-BE49-F238E27FC236}">
                <a16:creationId xmlns:a16="http://schemas.microsoft.com/office/drawing/2014/main" id="{0F98EEEF-9ABC-4047-A7AA-AC2E7B33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58" name="Slide Number">
            <a:extLst>
              <a:ext uri="{FF2B5EF4-FFF2-40B4-BE49-F238E27FC236}">
                <a16:creationId xmlns:a16="http://schemas.microsoft.com/office/drawing/2014/main" id="{1E0F5BF5-FE50-4093-8036-088CCA22EB9D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>
            <a:extLst>
              <a:ext uri="{FF2B5EF4-FFF2-40B4-BE49-F238E27FC236}">
                <a16:creationId xmlns:a16="http://schemas.microsoft.com/office/drawing/2014/main" id="{283CEC92-D498-4AA8-8209-24350E9EF881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>
            <a:extLst>
              <a:ext uri="{FF2B5EF4-FFF2-40B4-BE49-F238E27FC236}">
                <a16:creationId xmlns:a16="http://schemas.microsoft.com/office/drawing/2014/main" id="{7FE00625-0C11-4F2E-A4E8-92B5CCB1F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73" name="Body Level One…">
            <a:extLst>
              <a:ext uri="{FF2B5EF4-FFF2-40B4-BE49-F238E27FC236}">
                <a16:creationId xmlns:a16="http://schemas.microsoft.com/office/drawing/2014/main" id="{77E84131-4ECE-48CE-8D99-6EF92B1B7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74" name="Text Placeholder 3">
            <a:extLst>
              <a:ext uri="{FF2B5EF4-FFF2-40B4-BE49-F238E27FC236}">
                <a16:creationId xmlns:a16="http://schemas.microsoft.com/office/drawing/2014/main" id="{E2FA00B9-1470-4B91-BF61-AF826544134C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>
            <a:extLst>
              <a:ext uri="{FF2B5EF4-FFF2-40B4-BE49-F238E27FC236}">
                <a16:creationId xmlns:a16="http://schemas.microsoft.com/office/drawing/2014/main" id="{BF0F32C0-206C-4D08-B813-223D3B7D3837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>
            <a:extLst>
              <a:ext uri="{FF2B5EF4-FFF2-40B4-BE49-F238E27FC236}">
                <a16:creationId xmlns:a16="http://schemas.microsoft.com/office/drawing/2014/main" id="{9DAE4720-0A6C-4669-BD79-36C74EEE7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83" name="Picture Placeholder 2">
            <a:extLst>
              <a:ext uri="{FF2B5EF4-FFF2-40B4-BE49-F238E27FC236}">
                <a16:creationId xmlns:a16="http://schemas.microsoft.com/office/drawing/2014/main" id="{48033179-82D5-4E23-8C74-5EB4148DAC76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4" name="Body Level One…">
            <a:extLst>
              <a:ext uri="{FF2B5EF4-FFF2-40B4-BE49-F238E27FC236}">
                <a16:creationId xmlns:a16="http://schemas.microsoft.com/office/drawing/2014/main" id="{0AE7B6F7-7263-4112-BF02-78CAF8968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85" name="Slide Number">
            <a:extLst>
              <a:ext uri="{FF2B5EF4-FFF2-40B4-BE49-F238E27FC236}">
                <a16:creationId xmlns:a16="http://schemas.microsoft.com/office/drawing/2014/main" id="{AF4BAFCF-1B51-4657-931C-22492C37C2F5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5B97C50A-F5BB-4831-84B6-61C3C7974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/>
        </p:spPr>
        <p:txBody>
          <a:bodyPr lIns="45719" rIns="45719" anchor="ctr">
            <a:normAutofit/>
          </a:bodyPr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id="{BB093B92-253A-4B14-BFE5-C78474046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/>
        </p:spPr>
        <p:txBody>
          <a:bodyPr lIns="45719" rIns="45719">
            <a:normAutofit/>
          </a:bodyPr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410D3C0F-8F38-4788-B5DB-226376C2C440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/>
        </p:spPr>
        <p:txBody>
          <a:bodyPr wrap="none" lIns="45719" rIns="45719" anchor="ctr">
            <a:spAutoFit/>
          </a:bodyPr>
          <a:lstStyle>
            <a:lvl1pPr algn="r">
              <a:buNone/>
              <a:defRPr sz="1200">
                <a:solidFill>
                  <a:srgbClr val="888888"/>
                </a:solidFill>
              </a:defRPr>
            </a:lvl1pPr>
          </a:lstStyle>
          <a:p>
            <a:pPr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marL="783771" marR="0" indent="-326571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marL="1219200" marR="0" indent="-30480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marL="17373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marL="21945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marL="26517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marL="31089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marL="3566159" marR="0" indent="-365759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marL="4023359" marR="0" indent="-365759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marL="0" marR="0" indent="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marL="0" marR="0" indent="4572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marL="0" marR="0" indent="9144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marL="0" marR="0" indent="13716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marL="0" marR="0" indent="18288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marL="0" marR="0" indent="22860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marL="0" marR="0" indent="27432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marL="0" marR="0" indent="32004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marL="0" marR="0" indent="36576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EE196AE-BAE6-46AA-B682-CE98B72AC2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A414E5-505A-4EFA-89A1-77668C13EFDC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7C8105-E900-41CE-9765-39757470BCE3}"/>
              </a:ext>
            </a:extLst>
          </p:cNvPr>
          <p:cNvSpPr>
            <a:spLocks noGrp="1"/>
          </p:cNvSpPr>
          <p:nvPr/>
        </p:nvSpPr>
        <p:spPr>
          <a:xfrm>
            <a:off x="1676400" y="323850"/>
            <a:ext cx="933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SIMATS ENGINEERING  |  DEPARTMENT OF COMPUTER SCIENCE AND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E59122-7C4D-4034-908E-8AC7F0B23D44}"/>
              </a:ext>
            </a:extLst>
          </p:cNvPr>
          <p:cNvSpPr>
            <a:spLocks noGrp="1"/>
          </p:cNvSpPr>
          <p:nvPr/>
        </p:nvSpPr>
        <p:spPr>
          <a:xfrm>
            <a:off x="1676400" y="62865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9DD7E8"/>
                </a:solidFill>
              </a:defRPr>
            </a:pPr>
            <a:r>
              <a:rPr sz="975" b="1">
                <a:solidFill>
                  <a:srgbClr val="9DD7E8"/>
                </a:solidFill>
              </a:rPr>
              <a:t>CSA15  |  CLOUD COMPUTING AND BIG DATA ANALYTICS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E3B64B-0C5D-497D-A0DA-7D3F3320CF27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771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1">
                <a:solidFill>
                  <a:srgbClr val="D39216"/>
                </a:solidFill>
              </a:defRPr>
            </a:pPr>
            <a:r>
              <a:rPr sz="1200" b="1">
                <a:solidFill>
                  <a:srgbClr val="D39216"/>
                </a:solidFill>
              </a:rPr>
              <a:t>CAPSTONE PROJECT FINAL PRESENTATION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ED20F9-03FB-4A83-91E3-2EC6CD7C8381}"/>
              </a:ext>
            </a:extLst>
          </p:cNvPr>
          <p:cNvSpPr>
            <a:spLocks noGrp="1"/>
          </p:cNvSpPr>
          <p:nvPr/>
        </p:nvSpPr>
        <p:spPr>
          <a:xfrm>
            <a:off x="514350" y="1685925"/>
            <a:ext cx="10572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lang="en-US" sz="3150" b="1" dirty="0">
                <a:solidFill>
                  <a:srgbClr val="FFFFFF"/>
                </a:solidFill>
              </a:rPr>
              <a:t>Retail Pulse: Green Cloud Inventory System with Demand Forecasting and Stockout Prevention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81F40-44D9-4811-981F-04CF5DE6E24A}"/>
              </a:ext>
            </a:extLst>
          </p:cNvPr>
          <p:cNvSpPr>
            <a:spLocks noGrp="1"/>
          </p:cNvSpPr>
          <p:nvPr/>
        </p:nvSpPr>
        <p:spPr>
          <a:xfrm>
            <a:off x="533400" y="2600325"/>
            <a:ext cx="10334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0">
                <a:solidFill>
                  <a:srgbClr val="DCEAF3"/>
                </a:solidFill>
              </a:defRPr>
            </a:pPr>
            <a:r>
              <a:rPr sz="1425" b="0">
                <a:solidFill>
                  <a:srgbClr val="DCEAF3"/>
                </a:solidFill>
              </a:rPr>
              <a:t>Store managers lose sales to stockouts and margin to overstock — RetailPulse forecasts SKU-level demand and auto-triggers reorders on a green, auto-scaling cloud stack.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FEAFE7-1E03-4E13-A666-020731D34C1B}"/>
              </a:ext>
            </a:extLst>
          </p:cNvPr>
          <p:cNvSpPr>
            <a:spLocks noGrp="1"/>
          </p:cNvSpPr>
          <p:nvPr/>
        </p:nvSpPr>
        <p:spPr>
          <a:xfrm>
            <a:off x="514350" y="3381375"/>
            <a:ext cx="2047875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C879A-DC0F-4ECE-B2D5-E43450C3685C}"/>
              </a:ext>
            </a:extLst>
          </p:cNvPr>
          <p:cNvSpPr>
            <a:spLocks noGrp="1"/>
          </p:cNvSpPr>
          <p:nvPr/>
        </p:nvSpPr>
        <p:spPr>
          <a:xfrm>
            <a:off x="628650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35A4638-D8FD-4D59-AB11-A2C5E955B21D}"/>
              </a:ext>
            </a:extLst>
          </p:cNvPr>
          <p:cNvSpPr>
            <a:spLocks noGrp="1"/>
          </p:cNvSpPr>
          <p:nvPr/>
        </p:nvSpPr>
        <p:spPr>
          <a:xfrm>
            <a:off x="2590800" y="3743325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4A8737-3F05-4260-A083-0CE82B1D81A0}"/>
              </a:ext>
            </a:extLst>
          </p:cNvPr>
          <p:cNvSpPr>
            <a:spLocks noGrp="1"/>
          </p:cNvSpPr>
          <p:nvPr/>
        </p:nvSpPr>
        <p:spPr>
          <a:xfrm>
            <a:off x="2790825" y="3381375"/>
            <a:ext cx="2047875" cy="1066800"/>
          </a:xfrm>
          <a:prstGeom prst="rect">
            <a:avLst/>
          </a:prstGeom>
          <a:solidFill>
            <a:srgbClr val="0B789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7FA51F-DFB6-4777-9787-7654AE58C729}"/>
              </a:ext>
            </a:extLst>
          </p:cNvPr>
          <p:cNvSpPr>
            <a:spLocks noGrp="1"/>
          </p:cNvSpPr>
          <p:nvPr/>
        </p:nvSpPr>
        <p:spPr>
          <a:xfrm>
            <a:off x="2905125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8A3F8C8-CC8A-4FB3-9DBF-1045AA557220}"/>
              </a:ext>
            </a:extLst>
          </p:cNvPr>
          <p:cNvSpPr>
            <a:spLocks noGrp="1"/>
          </p:cNvSpPr>
          <p:nvPr/>
        </p:nvSpPr>
        <p:spPr>
          <a:xfrm>
            <a:off x="4867275" y="3743325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F50C29-06E5-4D30-B64A-D1096B663F5C}"/>
              </a:ext>
            </a:extLst>
          </p:cNvPr>
          <p:cNvSpPr>
            <a:spLocks noGrp="1"/>
          </p:cNvSpPr>
          <p:nvPr/>
        </p:nvSpPr>
        <p:spPr>
          <a:xfrm>
            <a:off x="5067300" y="3381375"/>
            <a:ext cx="2047875" cy="1066800"/>
          </a:xfrm>
          <a:prstGeom prst="rect">
            <a:avLst/>
          </a:prstGeom>
          <a:solidFill>
            <a:srgbClr val="245A85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55D29E-3B24-42B1-B7C6-C5FDB051F6A1}"/>
              </a:ext>
            </a:extLst>
          </p:cNvPr>
          <p:cNvSpPr>
            <a:spLocks noGrp="1"/>
          </p:cNvSpPr>
          <p:nvPr/>
        </p:nvSpPr>
        <p:spPr>
          <a:xfrm>
            <a:off x="5181600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42180EB-5B4D-42AC-8CCE-748EBF73967D}"/>
              </a:ext>
            </a:extLst>
          </p:cNvPr>
          <p:cNvSpPr>
            <a:spLocks noGrp="1"/>
          </p:cNvSpPr>
          <p:nvPr/>
        </p:nvSpPr>
        <p:spPr>
          <a:xfrm>
            <a:off x="7143750" y="3743325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9E0411-07DA-4FAD-9193-30E3318C847B}"/>
              </a:ext>
            </a:extLst>
          </p:cNvPr>
          <p:cNvSpPr>
            <a:spLocks noGrp="1"/>
          </p:cNvSpPr>
          <p:nvPr/>
        </p:nvSpPr>
        <p:spPr>
          <a:xfrm>
            <a:off x="7343775" y="3381375"/>
            <a:ext cx="2047875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54BC11-8B54-4F93-A0B5-39256FC2F220}"/>
              </a:ext>
            </a:extLst>
          </p:cNvPr>
          <p:cNvSpPr>
            <a:spLocks noGrp="1"/>
          </p:cNvSpPr>
          <p:nvPr/>
        </p:nvSpPr>
        <p:spPr>
          <a:xfrm>
            <a:off x="7458075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33BACAD-C6A3-4DCF-90DB-13D5AC2D4B63}"/>
              </a:ext>
            </a:extLst>
          </p:cNvPr>
          <p:cNvSpPr>
            <a:spLocks noGrp="1"/>
          </p:cNvSpPr>
          <p:nvPr/>
        </p:nvSpPr>
        <p:spPr>
          <a:xfrm>
            <a:off x="9420225" y="3743325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8C8470-FE4E-4720-8B1A-507B01428009}"/>
              </a:ext>
            </a:extLst>
          </p:cNvPr>
          <p:cNvSpPr>
            <a:spLocks noGrp="1"/>
          </p:cNvSpPr>
          <p:nvPr/>
        </p:nvSpPr>
        <p:spPr>
          <a:xfrm>
            <a:off x="9620250" y="3381375"/>
            <a:ext cx="2047875" cy="1066800"/>
          </a:xfrm>
          <a:prstGeom prst="rect">
            <a:avLst/>
          </a:prstGeom>
          <a:solidFill>
            <a:srgbClr val="0B7895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1041D1-99A7-45BC-A757-50B15EE8F3CC}"/>
              </a:ext>
            </a:extLst>
          </p:cNvPr>
          <p:cNvSpPr>
            <a:spLocks noGrp="1"/>
          </p:cNvSpPr>
          <p:nvPr/>
        </p:nvSpPr>
        <p:spPr>
          <a:xfrm>
            <a:off x="9734550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A34F22-53D2-4314-89F2-D82F6D2C9D5D}"/>
              </a:ext>
            </a:extLst>
          </p:cNvPr>
          <p:cNvSpPr>
            <a:spLocks noGrp="1"/>
          </p:cNvSpPr>
          <p:nvPr/>
        </p:nvSpPr>
        <p:spPr>
          <a:xfrm>
            <a:off x="514350" y="4695825"/>
            <a:ext cx="672465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CA5453-9029-4F3F-97AC-35A1BEC64A42}"/>
              </a:ext>
            </a:extLst>
          </p:cNvPr>
          <p:cNvSpPr>
            <a:spLocks noGrp="1"/>
          </p:cNvSpPr>
          <p:nvPr/>
        </p:nvSpPr>
        <p:spPr>
          <a:xfrm>
            <a:off x="514350" y="4695825"/>
            <a:ext cx="57150" cy="13716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D24AB4-C825-4BA8-B869-4B0DF7ABA646}"/>
              </a:ext>
            </a:extLst>
          </p:cNvPr>
          <p:cNvSpPr>
            <a:spLocks noGrp="1"/>
          </p:cNvSpPr>
          <p:nvPr/>
        </p:nvSpPr>
        <p:spPr>
          <a:xfrm>
            <a:off x="723900" y="4848225"/>
            <a:ext cx="6324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STUDENT TEAM DETAILS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21F3DE-8A03-4166-B262-00F5FC544EC3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63246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lang="en-IN" sz="1050" dirty="0">
                <a:solidFill>
                  <a:srgbClr val="183247"/>
                </a:solidFill>
              </a:rPr>
              <a:t>V.SAI SANTHOSH 192511043 </a:t>
            </a:r>
            <a:r>
              <a:rPr sz="1050" b="0" dirty="0">
                <a:solidFill>
                  <a:srgbClr val="183247"/>
                </a:solidFill>
              </a:rPr>
              <a:t>| Cloud Architecture &amp; Backend | ADD GITHUB PROFILE LINK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lang="en-IN" sz="1050" dirty="0">
                <a:solidFill>
                  <a:srgbClr val="183247"/>
                </a:solidFill>
              </a:rPr>
              <a:t>VALLAPU MOHAN KUMAR 192524225 </a:t>
            </a:r>
            <a:r>
              <a:rPr sz="1050" b="0" dirty="0">
                <a:solidFill>
                  <a:srgbClr val="183247"/>
                </a:solidFill>
              </a:rPr>
              <a:t>| ML Forecasting &amp; Frontend | ADD GITHUB PROFILE LINK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lang="en-IN" sz="1050" b="0">
                <a:solidFill>
                  <a:srgbClr val="183247"/>
                </a:solidFill>
              </a:rPr>
              <a:t>DEVA G 192421344</a:t>
            </a:r>
            <a:endParaRPr sz="1050" b="0" dirty="0">
              <a:solidFill>
                <a:srgbClr val="183247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2512AA-8A2E-4238-8BF3-00E5FE177C0B}"/>
              </a:ext>
            </a:extLst>
          </p:cNvPr>
          <p:cNvSpPr>
            <a:spLocks noGrp="1"/>
          </p:cNvSpPr>
          <p:nvPr/>
        </p:nvSpPr>
        <p:spPr>
          <a:xfrm>
            <a:off x="7467600" y="4695825"/>
            <a:ext cx="420052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19C895-242A-4543-B11B-C706E5944759}"/>
              </a:ext>
            </a:extLst>
          </p:cNvPr>
          <p:cNvSpPr>
            <a:spLocks noGrp="1"/>
          </p:cNvSpPr>
          <p:nvPr/>
        </p:nvSpPr>
        <p:spPr>
          <a:xfrm>
            <a:off x="7467600" y="4695825"/>
            <a:ext cx="57150" cy="13716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026213-C904-476D-95D2-AFD5E9A1D534}"/>
              </a:ext>
            </a:extLst>
          </p:cNvPr>
          <p:cNvSpPr>
            <a:spLocks noGrp="1"/>
          </p:cNvSpPr>
          <p:nvPr/>
        </p:nvSpPr>
        <p:spPr>
          <a:xfrm>
            <a:off x="7677150" y="4848225"/>
            <a:ext cx="3800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FACULTY AND PROJECT LINKS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5A254A-CFD5-4369-8A5B-A326DDE43DA7}"/>
              </a:ext>
            </a:extLst>
          </p:cNvPr>
          <p:cNvSpPr>
            <a:spLocks noGrp="1"/>
          </p:cNvSpPr>
          <p:nvPr/>
        </p:nvSpPr>
        <p:spPr>
          <a:xfrm>
            <a:off x="7677150" y="5153025"/>
            <a:ext cx="38004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Faculty: Dr. C. Rajesh Babu | SSETSCS415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ADD YOUR GITHUB REPOSITORY LINK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ADD YOUR LIVE DEPLOYMENT / DEMO LINK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06C9FC-0623-4813-87F2-C00CAE536BD1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RETAILPULSE  |  SIMATS ENGINEERING CAPSTONE FINAL DEFENSE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2ADE5F-95C0-446E-8AEB-6A93DB61D95A}"/>
              </a:ext>
            </a:extLst>
          </p:cNvPr>
          <p:cNvSpPr>
            <a:spLocks noGrp="1"/>
          </p:cNvSpPr>
          <p:nvPr/>
        </p:nvSpPr>
        <p:spPr>
          <a:xfrm>
            <a:off x="4191000" y="6705600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</p:spTree>
    <p:extLst>
      <p:ext uri="{BB962C8B-B14F-4D97-AF65-F5344CB8AC3E}">
        <p14:creationId xmlns:p14="http://schemas.microsoft.com/office/powerpoint/2010/main" val="104805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4C70E62-31A0-46F5-961F-2E2660A51C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18CFF6-4CB2-4710-851F-3498D977E56F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6F82C77-A2D6-4C88-B959-3C85BADDCDC3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484666-C522-4157-9AF1-2BFB5E0D488F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8033F7-0061-4726-8072-E17DEA54B3A1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 dirty="0">
                <a:solidFill>
                  <a:srgbClr val="0B2E4F"/>
                </a:solidFill>
              </a:rPr>
              <a:t>Executive Summary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F560B9-6392-4896-94AF-187FF72E414B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State the product, the cloud intervention and the measurable value in one view.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C540A1-9714-4A5A-8E54-5708CB03C558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05C61B-9193-4986-B9E0-9232783FF418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2592F3-3601-458F-B603-B8F4AE201B6D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481CF3-99BE-412D-986A-8A0F721EC800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3AA1AE-B6BB-4690-8DCB-B4FA3E92E9D7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64BE83-2FE3-43FD-B342-CBE280462376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3F28BF-5A5D-4787-B839-44BD756B2F10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1B16AD-DB49-4055-88F1-5A653DE20A46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1400" b="1" dirty="0">
                <a:solidFill>
                  <a:srgbClr val="1264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627EBB-DAAB-4CF1-8EF4-2973257B97B0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just">
              <a:lnSpc>
                <a:spcPct val="150000"/>
              </a:lnSpc>
              <a:defRPr sz="1275" b="0">
                <a:solidFill>
                  <a:srgbClr val="183247"/>
                </a:solidFill>
              </a:defRPr>
            </a:pPr>
            <a:r>
              <a:rPr sz="1400" b="0" dirty="0">
                <a:solidFill>
                  <a:srgbClr val="183247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Regional retail chains reconcile stock manually once or twice a day, so store managers only discover a stockout after shelves are already empty and lost sales are unrecoverable.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749136-5856-49B8-8656-C0D615DA075E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358656-7D31-45BA-8FDA-D8C82EDD3C87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799151-5E42-4E92-B08D-3DA6C2E8BA46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1400" b="1" dirty="0">
                <a:solidFill>
                  <a:srgbClr val="0B7895"/>
                </a:solidFill>
              </a:rPr>
              <a:t>CLOUD INTERVENTION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F27941-8B30-4FC6-83A1-16AE00485E71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just">
              <a:lnSpc>
                <a:spcPct val="150000"/>
              </a:lnSpc>
              <a:defRPr sz="1275" b="0">
                <a:solidFill>
                  <a:srgbClr val="183247"/>
                </a:solidFill>
              </a:defRPr>
            </a:pPr>
            <a:r>
              <a:rPr sz="1400" b="0" dirty="0">
                <a:solidFill>
                  <a:srgbClr val="1832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serverless, event-driven AWS stack (Fargate/Lambda + RDS + SNS) syncs stock in near real time and runs a nightly ML forecast, scaling compute to zero outside store hours</a:t>
            </a:r>
            <a:r>
              <a:rPr sz="1400" b="0" dirty="0">
                <a:solidFill>
                  <a:srgbClr val="183247"/>
                </a:solidFill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636A85-0917-48DB-9AFB-77603A7DDBEB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3455FF-D8A2-46E0-AF0C-8C189DEB5818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D57DA5-EBC7-44C7-BEBC-0D15E7006893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1400" b="1" dirty="0">
                <a:solidFill>
                  <a:srgbClr val="D39216"/>
                </a:solidFill>
              </a:rPr>
              <a:t>MEASURED VALUE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94C5F5-A8D5-4F96-A292-F8440C8665C7}"/>
              </a:ext>
            </a:extLst>
          </p:cNvPr>
          <p:cNvSpPr>
            <a:spLocks noGrp="1"/>
          </p:cNvSpPr>
          <p:nvPr/>
        </p:nvSpPr>
        <p:spPr>
          <a:xfrm>
            <a:off x="8312150" y="2809875"/>
            <a:ext cx="3165475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lvl="0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MAPE: 8.2% on top SKUs.</a:t>
            </a:r>
          </a:p>
          <a:p>
            <a:pPr lvl="0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Time: 54 hours advance notice for stockouts.</a:t>
            </a:r>
          </a:p>
          <a:p>
            <a:pPr lvl="0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Cost: 24% of the always-on baseline.</a:t>
            </a:r>
          </a:p>
          <a:p>
            <a:pPr lvl="0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Uptime: 99.98% reliability.</a:t>
            </a:r>
          </a:p>
          <a:p>
            <a:pPr algn="just">
              <a:lnSpc>
                <a:spcPct val="150000"/>
              </a:lnSpc>
              <a:defRPr sz="1275" b="0">
                <a:solidFill>
                  <a:srgbClr val="183247"/>
                </a:solidFill>
              </a:defRPr>
            </a:pPr>
            <a:endParaRPr sz="1400" b="0" dirty="0">
              <a:solidFill>
                <a:srgbClr val="18324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3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Table 7"/>
          <p:cNvGraphicFramePr/>
          <p:nvPr>
            <p:extLst>
              <p:ext uri="{D42A27DB-BD31-4B8C-83A1-F6EECF244321}">
                <p14:modId xmlns:p14="http://schemas.microsoft.com/office/powerpoint/2010/main" val="526602991"/>
              </p:ext>
            </p:extLst>
          </p:nvPr>
        </p:nvGraphicFramePr>
        <p:xfrm>
          <a:off x="283029" y="1828800"/>
          <a:ext cx="11644992" cy="329946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91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Paper / Author</a:t>
                      </a:r>
                    </a:p>
                  </a:txBody>
                  <a:tcPr marL="45720" marR="45720" horzOverflow="overflow">
                    <a:solidFill>
                      <a:srgbClr val="0A4C9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 Used</a:t>
                      </a:r>
                    </a:p>
                  </a:txBody>
                  <a:tcPr marL="45720" marR="45720" horzOverflow="overflow">
                    <a:solidFill>
                      <a:srgbClr val="0A4C9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Limitation / Gap</a:t>
                      </a:r>
                    </a:p>
                  </a:txBody>
                  <a:tcPr marL="45720" marR="45720" horzOverflow="overflow">
                    <a:solidFill>
                      <a:srgbClr val="0A4C9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How Your Project Extends It</a:t>
                      </a:r>
                    </a:p>
                  </a:txBody>
                  <a:tcPr marL="45720" marR="45720" horzOverflow="overflow">
                    <a:solidFill>
                      <a:srgbClr val="0A4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dirty="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ADD: statistical time-series forecasting study (ARIMA/Exponential Smoothing)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forecasting on historical POS sales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Struggles with sparse/intermittent SKU demand; ignores promotions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RetailPulse adds promotion &amp; seasonality features on top of gradient-boosted trees for sparse SKUs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dirty="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ADD: deep-learning demand forecasting study (LSTM/Transformer)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dirty="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Sequence models trained on multi-store sales history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dirty="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compute cost, poor cold-start </a:t>
                      </a:r>
                      <a:r>
                        <a:rPr sz="1100" dirty="0" err="1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behaviour</a:t>
                      </a:r>
                      <a:r>
                        <a:rPr sz="1100" dirty="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not cloud-cost aware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RetailPulse runs lightweight XGBoost forecasting on serverless compute, avoiding always-on GPU cost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ADD: RFID / IoT-based inventory tracking study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dirty="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sensors for real-time stock visibility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dirty="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hardware cost, not viable for small/regional retail chains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RetailPulse gets near-real-time visibility from existing POS/barcode data, no new hardware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ADD: cloud elasticity / green-computing study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Auto-scaling and workload-aware resource allocation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dirty="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General-purpose; not applied to retail inventory workloads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dirty="0" err="1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RetailPulse</a:t>
                      </a:r>
                      <a:r>
                        <a:rPr sz="1100" dirty="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scales compute to store traffic and forecast-job schedules, cutting idle cloud spend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ADD: stockout / inventory-optimization study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Reorder-point / safety-stock optimization models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Assumes centralized ERP access; not designed for multi-branch retail chains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dirty="0" err="1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RetailPulse</a:t>
                      </a:r>
                      <a:r>
                        <a:rPr sz="1100" dirty="0">
                          <a:solidFill>
                            <a:srgbClr val="26323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layers forecast-driven reorder alerts on a lightweight multi-branch cloud data model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5" name="Rectangle 164">
            <a:extLst>
              <a:ext uri="{FF2B5EF4-FFF2-40B4-BE49-F238E27FC236}">
                <a16:creationId xmlns:a16="http://schemas.microsoft.com/office/drawing/2014/main" id="{B1AD4202-28E3-4486-8A83-5C5E095484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C7B31CAE-8E50-401B-AD9E-D6E6F9C102CA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185" name="Picture 18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8" name="Rectangle 167">
            <a:extLst>
              <a:ext uri="{FF2B5EF4-FFF2-40B4-BE49-F238E27FC236}">
                <a16:creationId xmlns:a16="http://schemas.microsoft.com/office/drawing/2014/main" id="{505C5D4D-A6F2-43F5-818C-5A61A0FBBC71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0FBA1AD-9CF5-4C1E-BF79-E895E996F3C5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D1D06B7-97B5-41D4-B008-AF31BE66B0E0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Research Evidence and Gap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E5DDE11-B6A1-46C4-B59D-620DC2D66812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Connect credible prior work to the precise technical gap addressed by the capstone.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155915F-956F-49B2-ACB4-0B9B0C36877A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208D4E1-357C-40CA-933C-23BDA79CF14C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CE8E7B7-1D1C-41A1-AB73-0EBA479C800D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9C75B35-12D0-4ECC-A817-DB59DC2E12D6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C146A2F2-B4BB-42FB-A448-299FAEFF024F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7FB3617-EBE5-46AB-8CBC-B72E173FDA40}"/>
              </a:ext>
            </a:extLst>
          </p:cNvPr>
          <p:cNvSpPr>
            <a:spLocks noGrp="1"/>
          </p:cNvSpPr>
          <p:nvPr/>
        </p:nvSpPr>
        <p:spPr>
          <a:xfrm>
            <a:off x="514350" y="4829175"/>
            <a:ext cx="111537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D5C933D-FDC9-4B7F-A834-96A28FF93472}"/>
              </a:ext>
            </a:extLst>
          </p:cNvPr>
          <p:cNvSpPr>
            <a:spLocks noGrp="1"/>
          </p:cNvSpPr>
          <p:nvPr/>
        </p:nvSpPr>
        <p:spPr>
          <a:xfrm>
            <a:off x="514350" y="4829175"/>
            <a:ext cx="57150" cy="10668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8130690C-86AD-44F7-BB5B-DC0BB398C3A9}"/>
              </a:ext>
            </a:extLst>
          </p:cNvPr>
          <p:cNvSpPr>
            <a:spLocks noGrp="1"/>
          </p:cNvSpPr>
          <p:nvPr/>
        </p:nvSpPr>
        <p:spPr>
          <a:xfrm>
            <a:off x="723900" y="4981575"/>
            <a:ext cx="107537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RESEARCH GAP CONVERTED INTO DESIGN ACTION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B413F2F6-63E1-4789-B601-5AFF9DC84839}"/>
              </a:ext>
            </a:extLst>
          </p:cNvPr>
          <p:cNvSpPr>
            <a:spLocks noGrp="1"/>
          </p:cNvSpPr>
          <p:nvPr/>
        </p:nvSpPr>
        <p:spPr>
          <a:xfrm>
            <a:off x="723900" y="5286375"/>
            <a:ext cx="107537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Prior work is either accuracy-focused (deep learning) without cloud-cost awareness, or visibility-focused (RFID/IoT) without affordable adoption for regional retailers. RetailPulse closes this gap with a lightweight ML forecasting service on auto-scaling serverless infrastructure, sized for small-to-mid retail chains.</a:t>
            </a:r>
          </a:p>
        </p:txBody>
      </p:sp>
    </p:spTree>
    <p:extLst>
      <p:ext uri="{BB962C8B-B14F-4D97-AF65-F5344CB8AC3E}">
        <p14:creationId xmlns:p14="http://schemas.microsoft.com/office/powerpoint/2010/main" val="1998693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79A735A-7565-4B0C-8CC6-540C115BA0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F749E9-CF82-479F-898F-B9814E776B0A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6B0B3A-7E5C-4CCF-8A15-C52D50819264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AF2AFD-7226-4B8F-B475-5B557EE35712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0E3C3E-1B48-46A7-8780-64413973D591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Technical Problem Definition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144D97-3F37-443A-B8D0-85AF9D58EA0F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Convert the user problem into constraints, measurable requirements and an engineering target.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27178-8AAC-42FE-8379-A77EACD49DD6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D5380F-FA50-4E60-ABF6-8DD813989C96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FAEE72-F2F7-41BD-891D-89C3F5696531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F64DB5-D14C-43FC-AC36-21B14CCFAB0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2FFB97-B944-4451-8DA4-4F58F91F4691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5D828-6113-4672-9B22-4130D768999D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58E62A-1DE4-4B0E-86BA-5988D8167093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9C4DE5-15FB-4E79-AC23-667BB9F7A965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PROBLEM STATEMENT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5106CB-DFCA-4B0A-BF07-D103EACEECE3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  <a:defRPr sz="1200" b="0">
                <a:solidFill>
                  <a:srgbClr val="183247"/>
                </a:solidFill>
              </a:defRPr>
            </a:pPr>
            <a:r>
              <a:rPr sz="1600" b="0" dirty="0">
                <a:solidFill>
                  <a:srgbClr val="1832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 retail chains (5-50 stores) run manual or spreadsheet-based stock counts, refreshed once or twice a day.</a:t>
            </a:r>
          </a:p>
          <a:p>
            <a:endParaRPr sz="1200" b="0" dirty="0">
              <a:solidFill>
                <a:srgbClr val="183247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5FBBF8-271C-46B3-A6B4-94C87D653D78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B28ADA-7A11-467A-AD1E-95BD1363DC06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2B4723-8329-4825-A5E3-E42E87E12003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ENGINEERING SPECIFICATION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9C8D34-4965-4DA6-93B4-7C3813B1C49E}"/>
              </a:ext>
            </a:extLst>
          </p:cNvPr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200" b="0">
                <a:solidFill>
                  <a:srgbClr val="183247"/>
                </a:solidFill>
              </a:defRPr>
            </a:pPr>
            <a:r>
              <a:rPr sz="1600" b="0" dirty="0">
                <a:solidFill>
                  <a:srgbClr val="1832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 transaction stream + warehouse scan events across ~20-50 stores, ~5,000 SKUs, up to 50,000 transactions/day.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sz="1600" b="0" dirty="0">
              <a:solidFill>
                <a:srgbClr val="18324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200" b="0">
                <a:solidFill>
                  <a:srgbClr val="183247"/>
                </a:solidFill>
              </a:defRPr>
            </a:pPr>
            <a:r>
              <a:rPr sz="1600" b="0" dirty="0">
                <a:solidFill>
                  <a:srgbClr val="1832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 inventory events in near real time, forecast 7-day SKU-level demand, and trigger reorder alerts before stock hits the safety threshold.</a:t>
            </a:r>
          </a:p>
          <a:p>
            <a:pPr marL="342900" indent="-342900">
              <a:buFont typeface="+mj-lt"/>
              <a:buAutoNum type="arabicPeriod"/>
            </a:pPr>
            <a:endParaRPr sz="1400" b="0" dirty="0">
              <a:solidFill>
                <a:srgbClr val="18324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727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FD04531-E533-4801-91E5-0A8B5066BB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B8DF5B-6DBC-41D8-8F1F-53B6327979D7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C935EF-C6D7-4BA9-9D46-DE62971580B8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3F20F-7A3A-4B7D-B3FA-C95EBC85FF9C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EF6107-D821-4571-8E50-A8299EE186D8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User and Industry Context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737EA4-14F0-4DF3-870E-959F6FF995E3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Show who experiences the problem, why it matters and where the proposed product fits.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A2027D-D0D5-488C-B4B2-CFA0DD8757C0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E0AB8D-7637-4DB6-9726-DD28B53FCEDF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19F8D4-232C-4B58-872B-F22F78B7EA0D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A43A2F-7355-4DE5-8DF3-9F9A873015E4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FB5043-9471-446B-AFA4-18A439153705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BE37F7-4808-4E3B-8153-F204A708CE64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D80D8-72B2-4D47-9360-43012AEBDD52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D784A6-A4A1-4796-BCCB-615FA43BDB00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PRIMARY USER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E41BDC-3C7F-4C6E-B374-C70833BBC070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just">
              <a:lnSpc>
                <a:spcPct val="150000"/>
              </a:lnSpc>
              <a:defRPr sz="1275" b="0">
                <a:solidFill>
                  <a:srgbClr val="183247"/>
                </a:solidFill>
              </a:defRPr>
            </a:pPr>
            <a:r>
              <a:rPr sz="1600" b="0" dirty="0">
                <a:solidFill>
                  <a:srgbClr val="1832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and regional inventory managers who currently reconcile stock manually once a day and want an early warning before a SKU goes out of stock.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027B9C-33FD-4194-A991-B21FA73410D1}"/>
              </a:ext>
            </a:extLst>
          </p:cNvPr>
          <p:cNvSpPr>
            <a:spLocks noGrp="1"/>
          </p:cNvSpPr>
          <p:nvPr/>
        </p:nvSpPr>
        <p:spPr>
          <a:xfrm>
            <a:off x="4344307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1179F6-8C51-401F-84B3-215410D92335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0AF1ED-5408-4A97-B6D6-A14207629F88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INDUSTRY CONTEXT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93D8C0-3B95-44D0-A5DF-AF1A762C33D5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just">
              <a:lnSpc>
                <a:spcPct val="150000"/>
              </a:lnSpc>
              <a:defRPr sz="1275" b="0">
                <a:solidFill>
                  <a:srgbClr val="183247"/>
                </a:solidFill>
              </a:defRPr>
            </a:pPr>
            <a:r>
              <a:rPr sz="1600" b="0" dirty="0">
                <a:solidFill>
                  <a:srgbClr val="1832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Retailers lose significant revenue annually to stockouts and overstock; regional chains rarely afford enterprise ERP add-ons and rely on manual counts and gut-feel reordering</a:t>
            </a:r>
            <a:r>
              <a:rPr sz="1275" b="0" dirty="0">
                <a:solidFill>
                  <a:srgbClr val="183247"/>
                </a:solidFill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AE56D7-D422-417C-B3B3-558076043356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B4DC7C-3F13-448C-A91A-EAA507AD743C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7AD2E2-2084-4B2D-A125-F5DB3F150A83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IMPACT ALIGNMENT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79D8B5-4EB4-44BD-94AE-17E305709F9A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just">
              <a:lnSpc>
                <a:spcPct val="150000"/>
              </a:lnSpc>
              <a:defRPr sz="1275" b="0">
                <a:solidFill>
                  <a:srgbClr val="183247"/>
                </a:solidFill>
              </a:defRPr>
            </a:pPr>
            <a:r>
              <a:rPr sz="1600" b="0" dirty="0">
                <a:solidFill>
                  <a:srgbClr val="1832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Aligned with UN SDG 12 (Responsible Consumption and Production) by cutting overstock/spoilage waste; target impact: reduce stockout-driven lost sales while keeping cloud compute proportional to store traffic.</a:t>
            </a:r>
          </a:p>
        </p:txBody>
      </p:sp>
    </p:spTree>
    <p:extLst>
      <p:ext uri="{BB962C8B-B14F-4D97-AF65-F5344CB8AC3E}">
        <p14:creationId xmlns:p14="http://schemas.microsoft.com/office/powerpoint/2010/main" val="50105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223">
            <a:extLst>
              <a:ext uri="{FF2B5EF4-FFF2-40B4-BE49-F238E27FC236}">
                <a16:creationId xmlns:a16="http://schemas.microsoft.com/office/drawing/2014/main" id="{DA3A0624-BDDD-4EC9-8F53-C87CE56819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563669C9-9444-4455-9699-2F1555EEA304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40" name="Picture 2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227" name="Rectangle 226">
            <a:extLst>
              <a:ext uri="{FF2B5EF4-FFF2-40B4-BE49-F238E27FC236}">
                <a16:creationId xmlns:a16="http://schemas.microsoft.com/office/drawing/2014/main" id="{69515206-1BEB-43EC-A5EA-BC47CE7A82E9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DEF632B8-A4D0-4160-A9E9-2FF80F2334F2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3D90E145-C933-4C2D-9F89-1A2152449FF9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Engineering Objectives and Acceptance Criteria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2E35FF43-055C-4824-B217-1255E8D1BD91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Every objective must map to a module, metric and testable completion condition.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268845DE-7B41-4B0B-8FBE-252F36B4C476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E2BD7B77-3958-464E-BA0A-F4A92FCF0381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F2CE7811-DE52-48B9-8FC9-136564AC7EDA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92895A8F-0EB0-4ED2-A249-A86FB108443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06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395AC92-45FC-45EC-8F65-0BBD7B8E6922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graphicFrame>
        <p:nvGraphicFramePr>
          <p:cNvPr id="250" name="Table 249"/>
          <p:cNvGraphicFramePr/>
          <p:nvPr>
            <p:extLst>
              <p:ext uri="{D42A27DB-BD31-4B8C-83A1-F6EECF244321}">
                <p14:modId xmlns:p14="http://schemas.microsoft.com/office/powerpoint/2010/main" val="1000683757"/>
              </p:ext>
            </p:extLst>
          </p:nvPr>
        </p:nvGraphicFramePr>
        <p:xfrm>
          <a:off x="514350" y="2133600"/>
          <a:ext cx="11153775" cy="37147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8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Linked Module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Metric / Target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Acceptance Evidence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  Real-time inventory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Sync latency &lt;=5s, 99% event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Load-test log + CloudWatch latency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  Accurate demand forecasting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2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 &lt;=10% on top 20% SKUs by volume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Backtest report vs. held-out sales data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  Automated stockout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&gt;=48h lead-time alert, &lt;=5% false-alert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 log compared with actual stockout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  Elastic, cost-aware cloud deployment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 scales to zero off-hours, &lt;=30% baseline cost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CloudWatch billing/utilization report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  Secure, role-based multi-store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 &amp;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RBAC enforced, all traffic over HTTPS/TLS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8324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Cognito role test + access-control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65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522FA67-541F-4609-A9A3-DA3EDFC7F8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EFB2A3D-3D8F-4484-B0CF-DEBDC1B51D87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A30289-B2F9-4C34-AF85-22A5BBD46334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7679EB-2BB3-48E8-B68E-F1ABC50787F6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5D67A-D574-43A8-B087-90139289EA6F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 dirty="0">
                <a:solidFill>
                  <a:srgbClr val="0B2E4F"/>
                </a:solidFill>
              </a:rPr>
              <a:t>Cloud System Architecture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AFCFE7-CDDB-4F3D-81D0-A824E7BD0A5B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Present the end-to-end deployment topology and label every service boundary and data flow.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AC8820-0F9B-4418-A196-68B1308AB84F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C6DC71-0E4A-428B-8C27-870555D9D1EF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94214E-3B8F-4D3D-90DB-F2FFD719D4EC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DD9032-4253-4F1F-A0EE-72D2F96A6C7B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FF8D28-C8A1-49EA-AD7D-282B03478945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7A0A3A-B49D-4C39-A087-C8AE16BEE131}"/>
              </a:ext>
            </a:extLst>
          </p:cNvPr>
          <p:cNvSpPr>
            <a:spLocks noGrp="1"/>
          </p:cNvSpPr>
          <p:nvPr/>
        </p:nvSpPr>
        <p:spPr>
          <a:xfrm>
            <a:off x="542925" y="2371725"/>
            <a:ext cx="2047875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6BB251-82EE-424C-AD06-0DE8731E2A59}"/>
              </a:ext>
            </a:extLst>
          </p:cNvPr>
          <p:cNvSpPr>
            <a:spLocks noGrp="1"/>
          </p:cNvSpPr>
          <p:nvPr/>
        </p:nvSpPr>
        <p:spPr>
          <a:xfrm>
            <a:off x="628650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CLIENTS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6782E62-170B-43A2-9930-A9F14C4F36B0}"/>
              </a:ext>
            </a:extLst>
          </p:cNvPr>
          <p:cNvSpPr>
            <a:spLocks noGrp="1"/>
          </p:cNvSpPr>
          <p:nvPr/>
        </p:nvSpPr>
        <p:spPr>
          <a:xfrm>
            <a:off x="2590800" y="272415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64CD9D-08EB-4878-A117-49ABF3006F4A}"/>
              </a:ext>
            </a:extLst>
          </p:cNvPr>
          <p:cNvSpPr>
            <a:spLocks noGrp="1"/>
          </p:cNvSpPr>
          <p:nvPr/>
        </p:nvSpPr>
        <p:spPr>
          <a:xfrm>
            <a:off x="2790825" y="2362200"/>
            <a:ext cx="2047875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CA9DA8-C091-4FE3-98FE-51F26BA5D594}"/>
              </a:ext>
            </a:extLst>
          </p:cNvPr>
          <p:cNvSpPr>
            <a:spLocks noGrp="1"/>
          </p:cNvSpPr>
          <p:nvPr/>
        </p:nvSpPr>
        <p:spPr>
          <a:xfrm>
            <a:off x="2905125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API + AUTH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8321287-C6F6-469D-8845-416C3AE243A8}"/>
              </a:ext>
            </a:extLst>
          </p:cNvPr>
          <p:cNvSpPr>
            <a:spLocks noGrp="1"/>
          </p:cNvSpPr>
          <p:nvPr/>
        </p:nvSpPr>
        <p:spPr>
          <a:xfrm>
            <a:off x="4867275" y="272415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2E102-01A4-49DB-A223-5185E59B00AF}"/>
              </a:ext>
            </a:extLst>
          </p:cNvPr>
          <p:cNvSpPr>
            <a:spLocks noGrp="1"/>
          </p:cNvSpPr>
          <p:nvPr/>
        </p:nvSpPr>
        <p:spPr>
          <a:xfrm>
            <a:off x="5067300" y="2362200"/>
            <a:ext cx="2047875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680388-8F19-4E30-A34E-340DE75EB043}"/>
              </a:ext>
            </a:extLst>
          </p:cNvPr>
          <p:cNvSpPr>
            <a:spLocks noGrp="1"/>
          </p:cNvSpPr>
          <p:nvPr/>
        </p:nvSpPr>
        <p:spPr>
          <a:xfrm>
            <a:off x="5181600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COMPUTE / SERVICES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F1DDFF9-E3CE-4D2B-9AEB-5B98637816E8}"/>
              </a:ext>
            </a:extLst>
          </p:cNvPr>
          <p:cNvSpPr>
            <a:spLocks noGrp="1"/>
          </p:cNvSpPr>
          <p:nvPr/>
        </p:nvSpPr>
        <p:spPr>
          <a:xfrm>
            <a:off x="7143750" y="272415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5C1CCD-795E-4663-B0BA-DEE927B16FD7}"/>
              </a:ext>
            </a:extLst>
          </p:cNvPr>
          <p:cNvSpPr>
            <a:spLocks noGrp="1"/>
          </p:cNvSpPr>
          <p:nvPr/>
        </p:nvSpPr>
        <p:spPr>
          <a:xfrm>
            <a:off x="7343775" y="2362200"/>
            <a:ext cx="2047875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89DC0-2C1D-4C65-ABEF-4AD6353A1062}"/>
              </a:ext>
            </a:extLst>
          </p:cNvPr>
          <p:cNvSpPr>
            <a:spLocks noGrp="1"/>
          </p:cNvSpPr>
          <p:nvPr/>
        </p:nvSpPr>
        <p:spPr>
          <a:xfrm>
            <a:off x="7458075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DATA + STORAGE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EB4060F-249B-4A1F-B3CC-25E0E5F4522C}"/>
              </a:ext>
            </a:extLst>
          </p:cNvPr>
          <p:cNvSpPr>
            <a:spLocks noGrp="1"/>
          </p:cNvSpPr>
          <p:nvPr/>
        </p:nvSpPr>
        <p:spPr>
          <a:xfrm>
            <a:off x="9420225" y="272415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AD42CC-7A0D-4D5A-98AE-A0FA6306BB76}"/>
              </a:ext>
            </a:extLst>
          </p:cNvPr>
          <p:cNvSpPr>
            <a:spLocks noGrp="1"/>
          </p:cNvSpPr>
          <p:nvPr/>
        </p:nvSpPr>
        <p:spPr>
          <a:xfrm>
            <a:off x="9620250" y="2362200"/>
            <a:ext cx="2047875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B503DE-2144-4B88-9BA5-9EFA764C2312}"/>
              </a:ext>
            </a:extLst>
          </p:cNvPr>
          <p:cNvSpPr>
            <a:spLocks noGrp="1"/>
          </p:cNvSpPr>
          <p:nvPr/>
        </p:nvSpPr>
        <p:spPr>
          <a:xfrm>
            <a:off x="9734550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5B4086-8645-4699-8786-24D3D2880CF9}"/>
              </a:ext>
            </a:extLst>
          </p:cNvPr>
          <p:cNvSpPr>
            <a:spLocks noGrp="1"/>
          </p:cNvSpPr>
          <p:nvPr/>
        </p:nvSpPr>
        <p:spPr>
          <a:xfrm>
            <a:off x="514350" y="3829050"/>
            <a:ext cx="11153775" cy="2019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  <p:txBody>
          <a:bodyPr/>
          <a:lstStyle/>
          <a:p>
            <a:pPr lvl="0"/>
            <a:endParaRPr lang="en-IN" b="1" dirty="0"/>
          </a:p>
          <a:p>
            <a:pPr lvl="0"/>
            <a:endParaRPr lang="en-IN" b="1" dirty="0"/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Represents the entry points (e.g., store managers accessing the retail platform).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+ Auth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Handles secure requests, authentication, and routing across the serverless architecture.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+ Storage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Manages real-time inventory syncing and persistent storage (such as Amazon RDS).</a:t>
            </a:r>
          </a:p>
          <a:p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EDE822-D83D-4397-985A-FFA6C8103510}"/>
              </a:ext>
            </a:extLst>
          </p:cNvPr>
          <p:cNvSpPr>
            <a:spLocks noGrp="1"/>
          </p:cNvSpPr>
          <p:nvPr/>
        </p:nvSpPr>
        <p:spPr>
          <a:xfrm>
            <a:off x="514350" y="3829050"/>
            <a:ext cx="57150" cy="20193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683BB4-901E-4FCD-B7EA-773283CDCDD8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107537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 dirty="0">
                <a:solidFill>
                  <a:srgbClr val="D39216"/>
                </a:solidFill>
              </a:rPr>
              <a:t>ARCHITECTURE EVIDENCE TO INCLUDE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9E20FE-2C99-4E2C-97AF-2000BDCAEB87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107537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endParaRPr sz="1200" b="0" dirty="0">
              <a:solidFill>
                <a:srgbClr val="1832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772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DBE434A-4A23-4EFD-9C7F-1E6659EE70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61618F-7445-458B-B22B-312706863470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67F525F-EBEF-4795-A52E-618AA8B9B7BA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BBA986-F2C2-4F2F-9DAA-712BEBD7C2FF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4B1FC5-1C80-4063-9F82-2CE818E65AFA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1: Functional 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468BE-EBDA-4C43-907B-67B1D87AB714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Define the module responsibility before presenting implementation detail.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49EBF9-5E0B-4008-A24A-DEAF39811C23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5DB327-856E-4517-9D0F-98CD8345DA42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9406AC-0E48-446E-9AF5-5B8766EE3E23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A05431-2DEE-4934-9240-C53F7BE151B9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800333-59B8-432C-87F2-6E6D78E28779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00AD5C-D93F-4A3A-A1C6-7366A6581FA5}"/>
              </a:ext>
            </a:extLst>
          </p:cNvPr>
          <p:cNvSpPr>
            <a:spLocks noGrp="1"/>
          </p:cNvSpPr>
          <p:nvPr/>
        </p:nvSpPr>
        <p:spPr>
          <a:xfrm>
            <a:off x="4381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data ingestion and inventory synchronization for regional retail chains to eliminate manual reconciliation bottlenecks.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C84759-B8BB-4C21-B7A6-30DEDBB73BC5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091F55-0990-481E-946F-8C3392150907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1400" b="1" dirty="0">
                <a:solidFill>
                  <a:srgbClr val="1264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F62031-28C9-4B09-BB6E-4DB90502EA2D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endParaRPr sz="1275" b="0" dirty="0">
              <a:solidFill>
                <a:srgbClr val="183247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2937D0-D4E0-4706-B446-B9244B50CB3A}"/>
              </a:ext>
            </a:extLst>
          </p:cNvPr>
          <p:cNvSpPr>
            <a:spLocks noGrp="1"/>
          </p:cNvSpPr>
          <p:nvPr/>
        </p:nvSpPr>
        <p:spPr>
          <a:xfrm>
            <a:off x="4308475" y="1933575"/>
            <a:ext cx="3565525" cy="378142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incoming point-of-sale (POS) transaction webhooks and store inventory feeds via secure REST APIs, outputting structured data payloads to the central database.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6A9F91-5B5D-4194-9FAF-25842FDDE326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705EAC-5C14-4DA1-AF16-97A5ADA33915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1400" b="1" dirty="0">
                <a:solidFill>
                  <a:srgbClr val="0B78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CONTRACT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7E50A6-D506-463F-93C6-3BC399443B64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endParaRPr sz="1275" b="0" dirty="0">
              <a:solidFill>
                <a:srgbClr val="18324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615D9F-5B9F-4848-99F5-916B7EC73525}"/>
              </a:ext>
            </a:extLst>
          </p:cNvPr>
          <p:cNvSpPr>
            <a:spLocks noGrp="1"/>
          </p:cNvSpPr>
          <p:nvPr/>
        </p:nvSpPr>
        <p:spPr>
          <a:xfrm>
            <a:off x="8099425" y="1847851"/>
            <a:ext cx="3565525" cy="3867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AWS Lambda for serverless, event-driven scaling to automatically handle fluctuating store check-in traffic while scaling compute resources down to zero outside operating hours for optimal green cloud efficiency</a:t>
            </a:r>
            <a:r>
              <a:rPr lang="en-IN" dirty="0"/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980114-25C8-4D87-B709-6C71A2B4F9D5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489292-FF6D-48DC-B9EC-C40595106399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1400" b="1" dirty="0">
                <a:solidFill>
                  <a:srgbClr val="D392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DECISION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F2FA59-CAD3-44B1-96E4-20590F86FBD7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 dirty="0">
                <a:solidFill>
                  <a:srgbClr val="18324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8411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6CE9628-34FE-4F43-BBBD-CE666FD255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234CAA-943A-46B7-9585-DA495AE19BB9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6D9448-E613-452C-8E85-4A17BC0A4782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7BCA85-6325-41BB-A645-230EAA4BF5ED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4BE31B-9223-4DE2-B1ED-A2A7EB93095A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1: Technical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5181F9-21C1-4C0B-A4A9-6C60B22AE261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Explain interfaces, algorithm or decision logic, data contract and design trade-offs.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A567-8F53-4DDF-8C41-19F9C2A186CA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17CA9F-767C-4275-80DD-46FDEA77E28F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8DE7F-6033-4E66-BCE2-E9142615ED2C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6F09F1-FDB9-4800-9AFD-1D48B7AA5926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5975FC-54AE-46CE-BA04-6498A8DAC2AC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A39A2B-C22A-4DC8-886A-AF225D2855E1}"/>
              </a:ext>
            </a:extLst>
          </p:cNvPr>
          <p:cNvSpPr>
            <a:spLocks noGrp="1"/>
          </p:cNvSpPr>
          <p:nvPr/>
        </p:nvSpPr>
        <p:spPr>
          <a:xfrm>
            <a:off x="504825" y="220027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AB4EE-8684-420B-93DE-F6C4F0C86BBD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886B07-C097-43C0-AB11-702A7233D193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1200" b="1" dirty="0">
                <a:solidFill>
                  <a:srgbClr val="1264A3"/>
                </a:solidFill>
              </a:rPr>
              <a:t>DESIGN AND DECISION 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B5C5EC-64D8-4E12-B0B9-A370C9968DFC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endParaRPr sz="1200" b="0" dirty="0">
              <a:solidFill>
                <a:srgbClr val="183247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68A56-0F14-47FF-9FB8-FBCC5F87B522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E032EC-4E03-46A6-9E69-7AFB0E90B870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5E5BD5-E6EC-4613-9D9E-1AFFBB37CA02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1400" b="1" dirty="0">
                <a:solidFill>
                  <a:srgbClr val="0B7895"/>
                </a:solidFill>
              </a:rPr>
              <a:t>TECHNICAL DEFENSE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66EA66-8B43-4EFE-91A4-11A8269E4600}"/>
              </a:ext>
            </a:extLst>
          </p:cNvPr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endParaRPr sz="1200" b="1" dirty="0">
              <a:solidFill>
                <a:srgbClr val="1832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05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3D962A2-4935-4A3E-A7CD-75D116E8C7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E4D6C3-5CE3-48D6-8AF3-A9FFE8984B41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81D145-0F5B-4B1C-AB24-3447FD0EA490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1C9A96-364A-4E4F-AF51-D26A8CDB2B3D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00D5F3-D01E-4086-BE42-5DDE682671A6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1: Implementation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9FB7BD-E796-4B44-9BF7-F3CBE15E09DF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Demonstrate that the module runs and produces a verifiable output.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A095D1-F663-4088-9AD9-5FB9DB3A57AB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C45F4-7FBC-4B6A-B603-BE54D9A829DD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526F47-34CC-476E-AE1B-885EFCBB8183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8A3C6C-F881-47FD-B75E-4AE92880396D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CF803C-E8E9-4095-BA8F-12F4A3A6107F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CA57BD-11F1-404D-A8B6-551705D58F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727318-DF34-4DD1-904D-2A254C278C79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D86D063-9FF2-4D82-8381-88990C24EEAF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7076AA-44B7-4A6F-AF08-910A64DD9B4A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1: Implementation 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31DC0E-3F62-4DB4-8AE8-FB928543AB11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Demonstrate that the module runs and produces a verifiable output.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09BEF7-4E40-4995-BF28-CF62BC067B70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D5A625-7BB2-4FAB-B4B3-5B12686C8687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90DA54-4859-4BD5-A44C-953235979825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8FB247-623D-4545-AF64-B5401A66064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38464B-2EFB-46C9-A3BB-469938D9316D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E48C22-074F-45FB-A38D-CB3BCD109AE3}"/>
              </a:ext>
            </a:extLst>
          </p:cNvPr>
          <p:cNvSpPr>
            <a:spLocks noGrp="1"/>
          </p:cNvSpPr>
          <p:nvPr/>
        </p:nvSpPr>
        <p:spPr>
          <a:xfrm>
            <a:off x="514350" y="2133600"/>
            <a:ext cx="653415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7E87FF-3C52-4A86-8943-5506C010EC53}"/>
              </a:ext>
            </a:extLst>
          </p:cNvPr>
          <p:cNvSpPr>
            <a:spLocks noGrp="1"/>
          </p:cNvSpPr>
          <p:nvPr/>
        </p:nvSpPr>
        <p:spPr>
          <a:xfrm>
            <a:off x="809625" y="3333750"/>
            <a:ext cx="5943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1264A3"/>
                </a:solidFill>
              </a:defRPr>
            </a:pPr>
            <a:r>
              <a:rPr sz="1425" b="1">
                <a:solidFill>
                  <a:srgbClr val="1264A3"/>
                </a:solidFill>
              </a:rPr>
              <a:t>[PASTE MODULE 1 SCREENSHOT / OUTPUT / GRAPH]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F29A09-550E-487A-B8AA-6FFE6A26218D}"/>
              </a:ext>
            </a:extLst>
          </p:cNvPr>
          <p:cNvSpPr>
            <a:spLocks noGrp="1"/>
          </p:cNvSpPr>
          <p:nvPr/>
        </p:nvSpPr>
        <p:spPr>
          <a:xfrm>
            <a:off x="876300" y="39528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52677A"/>
                </a:solidFill>
              </a:defRPr>
            </a:pPr>
            <a:r>
              <a:rPr sz="1050" b="0">
                <a:solidFill>
                  <a:srgbClr val="52677A"/>
                </a:solidFill>
              </a:rPr>
              <a:t>Use a readable image. Crop browser chrome and expose the result, not an empty interface.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D67255-E914-497B-B96C-21E624599E80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3B8BB8-7853-44A5-B474-6567973F231D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57150" cy="10668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374D25-CF68-4B28-882E-89D3162A5B47}"/>
              </a:ext>
            </a:extLst>
          </p:cNvPr>
          <p:cNvSpPr>
            <a:spLocks noGrp="1"/>
          </p:cNvSpPr>
          <p:nvPr/>
        </p:nvSpPr>
        <p:spPr>
          <a:xfrm>
            <a:off x="7505700" y="22860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BUILD DETAILS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6BE19B-B19F-4B46-BFA6-FBC88165BA70}"/>
              </a:ext>
            </a:extLst>
          </p:cNvPr>
          <p:cNvSpPr>
            <a:spLocks noGrp="1"/>
          </p:cNvSpPr>
          <p:nvPr/>
        </p:nvSpPr>
        <p:spPr>
          <a:xfrm>
            <a:off x="7505700" y="259080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Node.js 18 Lambda functions, Amazon API Gateway, RDS PostgreSQL 15, SNS/SQS — deployed via AWS SAM/Terraform to the ap-south-1 region.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B45823-57FC-48D3-A25D-6F2657A515AA}"/>
              </a:ext>
            </a:extLst>
          </p:cNvPr>
          <p:cNvSpPr>
            <a:spLocks noGrp="1"/>
          </p:cNvSpPr>
          <p:nvPr/>
        </p:nvSpPr>
        <p:spPr>
          <a:xfrm>
            <a:off x="7296150" y="333375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8825A9-4B50-46B3-B337-CB22FBD9D018}"/>
              </a:ext>
            </a:extLst>
          </p:cNvPr>
          <p:cNvSpPr>
            <a:spLocks noGrp="1"/>
          </p:cNvSpPr>
          <p:nvPr/>
        </p:nvSpPr>
        <p:spPr>
          <a:xfrm>
            <a:off x="7296150" y="3333750"/>
            <a:ext cx="57150" cy="10668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3E709-78EB-4ED0-BC87-9D7936CFE057}"/>
              </a:ext>
            </a:extLst>
          </p:cNvPr>
          <p:cNvSpPr>
            <a:spLocks noGrp="1"/>
          </p:cNvSpPr>
          <p:nvPr/>
        </p:nvSpPr>
        <p:spPr>
          <a:xfrm>
            <a:off x="7505700" y="348615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VALIDATION EVIDENCE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DAE25D-30BE-4ECE-9073-4DB1FCD651C7}"/>
              </a:ext>
            </a:extLst>
          </p:cNvPr>
          <p:cNvSpPr>
            <a:spLocks noGrp="1"/>
          </p:cNvSpPr>
          <p:nvPr/>
        </p:nvSpPr>
        <p:spPr>
          <a:xfrm>
            <a:off x="7505700" y="379095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Load-tested with a simulated 50,000 event/day burst — ADD YOUR MEASURED p95 sync latency and event-delivery rate from your CloudWatch test run.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A5B3E2-17DD-4CAD-95AE-B1BC01F17463}"/>
              </a:ext>
            </a:extLst>
          </p:cNvPr>
          <p:cNvSpPr>
            <a:spLocks noGrp="1"/>
          </p:cNvSpPr>
          <p:nvPr/>
        </p:nvSpPr>
        <p:spPr>
          <a:xfrm>
            <a:off x="7296150" y="4533900"/>
            <a:ext cx="43719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D751C8-5986-4BD6-A7A1-F0CDDEC42B4E}"/>
              </a:ext>
            </a:extLst>
          </p:cNvPr>
          <p:cNvSpPr>
            <a:spLocks noGrp="1"/>
          </p:cNvSpPr>
          <p:nvPr/>
        </p:nvSpPr>
        <p:spPr>
          <a:xfrm>
            <a:off x="7296150" y="4533900"/>
            <a:ext cx="57150" cy="13144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EDB054-AB5D-4B7A-8567-292A80E8C112}"/>
              </a:ext>
            </a:extLst>
          </p:cNvPr>
          <p:cNvSpPr>
            <a:spLocks noGrp="1"/>
          </p:cNvSpPr>
          <p:nvPr/>
        </p:nvSpPr>
        <p:spPr>
          <a:xfrm>
            <a:off x="7505700" y="46863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MODULE HAND-OFF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7F147D9-4458-4C3E-841D-94D43BE720D7}"/>
              </a:ext>
            </a:extLst>
          </p:cNvPr>
          <p:cNvSpPr>
            <a:spLocks noGrp="1"/>
          </p:cNvSpPr>
          <p:nvPr/>
        </p:nvSpPr>
        <p:spPr>
          <a:xfrm>
            <a:off x="7505700" y="4991100"/>
            <a:ext cx="3971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Live stock_ledger table and StockChanged event stream consumed by the Module 2 forecasting service and Module 3 alert engine.</a:t>
            </a:r>
          </a:p>
        </p:txBody>
      </p:sp>
    </p:spTree>
    <p:extLst>
      <p:ext uri="{BB962C8B-B14F-4D97-AF65-F5344CB8AC3E}">
        <p14:creationId xmlns:p14="http://schemas.microsoft.com/office/powerpoint/2010/main" val="137578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2A28BD2-458C-4AA0-8D4E-00BDC083A3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3AA7420-B27A-4E61-8F67-C0E6C0F247E0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151335-8622-41CD-807F-115B72AE0854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812954-6B0A-42B7-8E0A-6CFFF924BDC2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9FB977-14E3-4782-A109-14D384FBF9C2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2: Functional 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FF62DB-A5D8-4C43-9DA2-2FED4067A33E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Show how the second module extends the product and consumes prior output.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CA3AC-9C3B-412F-A70A-51B3ED71487F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B1CB02-7230-4E56-9B45-CB288D4B3488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DFABF2-B197-4051-8EF0-D4A0344AF1D8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7BB833-2CF1-46C0-9928-439A377E9186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00A07D-1C37-4902-9F1D-F64861DCB1D2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802A59-3252-4CA1-9BD3-F9797557DC2C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A4E698-54C8-463A-94EA-A0F2A6873DB0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39454A-9C03-406B-ADD1-C08444D33E1F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PURPOSE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5472C5-3B40-423F-9C62-7318B45FFDF5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Predicts 7-day SKU-level demand per store from historical sales, seasonality and promotion flags, so Module 3 can decide when to trigger a reorder. Satisfies Objective O2.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494B0F-15BE-4CBF-B4D0-4C1BC6F2EC62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7C8811-2256-4798-B0EB-DDA7DC620AB2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EB12E4-B4FA-4944-BE9A-24CE9D62D9D0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INTERFACE CONTRACT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1FEEF7-6DB5-45DF-96D5-AE60732A05B5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Input: historical stock_events + sales history from S3/RDS, promo calendar. Output: forecast_results(store_id, sku, date, predicted_qty) in RDS, consumed by the Alert service. Runs as a scheduled Lambda/Fargate batch job.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E1B04F-E005-439F-8998-E74AC26481E8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7F01A1-C2DE-4D81-8506-65E0091DD21A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008F4A-D2C7-4AD7-B96E-5918C2B11A6E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ENGINEERING DECISION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F480FB-B821-4030-B4D7-0D7C3262CBCE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Chose gradient-boosted trees (XGBoost) with engineered seasonality/promo features over an LSTM — comparable accuracy at far lower training/inference cost on serverless compute; Prophet considered as a lighter cold-start baseline.</a:t>
            </a:r>
          </a:p>
        </p:txBody>
      </p:sp>
    </p:spTree>
    <p:extLst>
      <p:ext uri="{BB962C8B-B14F-4D97-AF65-F5344CB8AC3E}">
        <p14:creationId xmlns:p14="http://schemas.microsoft.com/office/powerpoint/2010/main" val="183756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50EEB21-FFB2-4230-8578-CB6CBF20B4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D2537F4-16B6-46CD-B044-530E8133B08A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D70513-6852-47E6-B20F-DFC665807A2C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052A8F-A083-4700-95E3-21A826099202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033D07-4650-4411-8DF4-3F7AABB4ADFF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2: Technical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443CD3-B2DF-47EC-AC85-81A33E129F11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Expose the service, data and control decisions that make the module dependable.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128F0D-41A1-4354-B2DA-24E7D7001599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06CDC3-4A0B-4FD1-A738-9BCA4AD5E0A4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BACBB-0872-49FD-A0AD-E50C38A1D64B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649442-375A-4CBF-841F-B475F021C7D4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48D2A2-F068-413F-924A-929E45902FE2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DF2B98-7705-45EA-BD08-14E587AAF81E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18F367-1F1A-4FB1-BB53-17516DEB7571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6BD3FB-C338-495D-B219-62B8ECBE89AC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DESIGN AND DECISION 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ADD49A-2679-4FE3-88AD-B2F3538DC975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Nightly EventBridge trigger -&gt; pull last 90 days of sales from RDS/S3 -&gt; feature engineering (day-of-week, holiday, promo flag, rolling averages) -&gt; XGBoost inference per SKU -&gt; write forecast_results -&gt; notify Module 3.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Input -&gt; validation -&gt; processing -&gt; data/service call -&gt; output -&gt; error path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Label the algorithm, data transformation, API contract and control decision.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37E532-AD1A-4942-A51A-A4A630AE7401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CD2A3B-21BB-4EDC-A798-C33AEF932451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3B9DAE-C930-4BA4-B0E9-8531130B3A89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TECHNICAL DEFENSE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B6D073-5C4A-4D6D-94A9-3382465ACF8F}"/>
              </a:ext>
            </a:extLst>
          </p:cNvPr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XGBoost regression per SKU-store pair, with a Prophet fallback for SKUs with under 30 days of history (cold start).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feature_store(store_id, sku, date, lag_features, promo_flag); forecast_results(store_id, sku, date, predicted_qty, confidence_band).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Batch inference for ~5,000 SKUs completes within the nightly maintenance window (~10-15 min) on serverless compute.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Model artifacts versioned in S3; a failed training run keeps serving the previous day’s forecast rather than blocking the pipeline.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An always-on LSTM service was rejected — inference cost and idle GPU time worked against the project’s green-cloud goal at this data scale.</a:t>
            </a:r>
          </a:p>
        </p:txBody>
      </p:sp>
    </p:spTree>
    <p:extLst>
      <p:ext uri="{BB962C8B-B14F-4D97-AF65-F5344CB8AC3E}">
        <p14:creationId xmlns:p14="http://schemas.microsoft.com/office/powerpoint/2010/main" val="889832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18F912B-9628-48CF-83F2-A35BED833C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A178D8-DDBA-42B1-B783-008E07EAB25D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09140D-CEEF-4B02-88F9-FA6EF1716836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710EB-F81E-4AC4-BA07-B4E9198713B8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EFBED8-1BE7-4BF3-80F6-7150EB42F7E3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2: Implementation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E74CB0-C1B3-410D-A7C3-B52123D37918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Present working evidence, validation and the hand-off to the next stage.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535437-8EBB-4860-AA2D-527C403668C1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335C7B-2278-463C-BF2F-21D25445D093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44E302-0C71-4909-810C-64A1A39CF24A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B768AC-2E28-424C-AA08-AC464385C5B1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366F7A-2CFB-424F-8F1B-A5155A792FDA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B26548-D860-4B7C-AB26-459E86D34F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6E1FD16-F61A-4B67-8312-53297EE0ECAA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16F4714-BB4D-4729-B892-6AE28839BED6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084E9D-45A2-4F81-9BAA-AB44AD3FC9EF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2: Implementation 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01E350-56CF-4DA9-94F5-169598D7E369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Present working evidence, validation and the hand-off to the next stage.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C3AC36-BEF3-425A-9405-A2D535F8CD0F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95AF01-2E70-4A0E-8A2F-528C810520F7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D69158-DF22-4531-A70D-96A081806C62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FB9966-6F85-4CE8-9175-F1BD0A889DDD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1B6AD5-7B20-42EF-AA07-040944747D8F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D3C209-B2B6-4B5F-8013-F55826D64770}"/>
              </a:ext>
            </a:extLst>
          </p:cNvPr>
          <p:cNvSpPr>
            <a:spLocks noGrp="1"/>
          </p:cNvSpPr>
          <p:nvPr/>
        </p:nvSpPr>
        <p:spPr>
          <a:xfrm>
            <a:off x="514350" y="2133600"/>
            <a:ext cx="653415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55D226-90D7-43D7-BCE7-054FADD0D07A}"/>
              </a:ext>
            </a:extLst>
          </p:cNvPr>
          <p:cNvSpPr>
            <a:spLocks noGrp="1"/>
          </p:cNvSpPr>
          <p:nvPr/>
        </p:nvSpPr>
        <p:spPr>
          <a:xfrm>
            <a:off x="809625" y="3333750"/>
            <a:ext cx="5943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1264A3"/>
                </a:solidFill>
              </a:defRPr>
            </a:pPr>
            <a:r>
              <a:rPr sz="1425" b="1">
                <a:solidFill>
                  <a:srgbClr val="1264A3"/>
                </a:solidFill>
              </a:rPr>
              <a:t>[PASTE MODULE 2 SCREENSHOT / OUTPUT / GRAPH]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FBC068-B69C-4157-99FE-26EFCB600BFC}"/>
              </a:ext>
            </a:extLst>
          </p:cNvPr>
          <p:cNvSpPr>
            <a:spLocks noGrp="1"/>
          </p:cNvSpPr>
          <p:nvPr/>
        </p:nvSpPr>
        <p:spPr>
          <a:xfrm>
            <a:off x="876300" y="39528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52677A"/>
                </a:solidFill>
              </a:defRPr>
            </a:pPr>
            <a:r>
              <a:rPr sz="1050" b="0">
                <a:solidFill>
                  <a:srgbClr val="52677A"/>
                </a:solidFill>
              </a:rPr>
              <a:t>Use a readable image. Crop browser chrome and expose the result, not an empty interface.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262FFE-39FA-423C-9AC0-12B18DABD09A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DEB893-DA32-488E-BD00-B6D65DABFF20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57150" cy="10668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9C1BC3-3DA4-4BC9-B4BB-061639383876}"/>
              </a:ext>
            </a:extLst>
          </p:cNvPr>
          <p:cNvSpPr>
            <a:spLocks noGrp="1"/>
          </p:cNvSpPr>
          <p:nvPr/>
        </p:nvSpPr>
        <p:spPr>
          <a:xfrm>
            <a:off x="7505700" y="22860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BUILD DETAILS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C5E769-ABB5-407F-9BA8-FCF0C813A188}"/>
              </a:ext>
            </a:extLst>
          </p:cNvPr>
          <p:cNvSpPr>
            <a:spLocks noGrp="1"/>
          </p:cNvSpPr>
          <p:nvPr/>
        </p:nvSpPr>
        <p:spPr>
          <a:xfrm>
            <a:off x="7505700" y="259080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Python 3.11, XGBoost/Prophet, scheduled on AWS Lambda (or Fargate batch task) via EventBridge; model artifacts stored in S3.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34CD18-C266-4DAE-B84F-0A15AD156F57}"/>
              </a:ext>
            </a:extLst>
          </p:cNvPr>
          <p:cNvSpPr>
            <a:spLocks noGrp="1"/>
          </p:cNvSpPr>
          <p:nvPr/>
        </p:nvSpPr>
        <p:spPr>
          <a:xfrm>
            <a:off x="7296150" y="333375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B810C0-AF56-4C14-9C85-6044FEA8BC3E}"/>
              </a:ext>
            </a:extLst>
          </p:cNvPr>
          <p:cNvSpPr>
            <a:spLocks noGrp="1"/>
          </p:cNvSpPr>
          <p:nvPr/>
        </p:nvSpPr>
        <p:spPr>
          <a:xfrm>
            <a:off x="7296150" y="3333750"/>
            <a:ext cx="57150" cy="10668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677ACF-60DC-4DE4-95FB-6321B7D05C23}"/>
              </a:ext>
            </a:extLst>
          </p:cNvPr>
          <p:cNvSpPr>
            <a:spLocks noGrp="1"/>
          </p:cNvSpPr>
          <p:nvPr/>
        </p:nvSpPr>
        <p:spPr>
          <a:xfrm>
            <a:off x="7505700" y="348615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VALIDATION EVIDENCE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82E087-3A3C-4F59-8250-5511BB39541C}"/>
              </a:ext>
            </a:extLst>
          </p:cNvPr>
          <p:cNvSpPr>
            <a:spLocks noGrp="1"/>
          </p:cNvSpPr>
          <p:nvPr/>
        </p:nvSpPr>
        <p:spPr>
          <a:xfrm>
            <a:off x="7505700" y="379095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Backtested against held-out historical sales — ADD YOUR MEASURED MAPE/RMSE and training-run time from your notebook/test output.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4BF20B9-9045-49BD-A73C-8843556466E3}"/>
              </a:ext>
            </a:extLst>
          </p:cNvPr>
          <p:cNvSpPr>
            <a:spLocks noGrp="1"/>
          </p:cNvSpPr>
          <p:nvPr/>
        </p:nvSpPr>
        <p:spPr>
          <a:xfrm>
            <a:off x="7296150" y="4533900"/>
            <a:ext cx="43719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789B2F-E944-40A2-8D0C-9A06BE845CAB}"/>
              </a:ext>
            </a:extLst>
          </p:cNvPr>
          <p:cNvSpPr>
            <a:spLocks noGrp="1"/>
          </p:cNvSpPr>
          <p:nvPr/>
        </p:nvSpPr>
        <p:spPr>
          <a:xfrm>
            <a:off x="7296150" y="4533900"/>
            <a:ext cx="57150" cy="13144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545B84-A83B-4734-A80F-E9F4001DA553}"/>
              </a:ext>
            </a:extLst>
          </p:cNvPr>
          <p:cNvSpPr>
            <a:spLocks noGrp="1"/>
          </p:cNvSpPr>
          <p:nvPr/>
        </p:nvSpPr>
        <p:spPr>
          <a:xfrm>
            <a:off x="7505700" y="46863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MODULE HAND-OFF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BF45A5-02DF-4A4B-B8E7-F78BBBBCCC9F}"/>
              </a:ext>
            </a:extLst>
          </p:cNvPr>
          <p:cNvSpPr>
            <a:spLocks noGrp="1"/>
          </p:cNvSpPr>
          <p:nvPr/>
        </p:nvSpPr>
        <p:spPr>
          <a:xfrm>
            <a:off x="7505700" y="4991100"/>
            <a:ext cx="3971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forecast_results table consumed by Module 3 to compare predicted demand against current stock and trigger reorder alerts.</a:t>
            </a:r>
          </a:p>
        </p:txBody>
      </p:sp>
    </p:spTree>
    <p:extLst>
      <p:ext uri="{BB962C8B-B14F-4D97-AF65-F5344CB8AC3E}">
        <p14:creationId xmlns:p14="http://schemas.microsoft.com/office/powerpoint/2010/main" val="1530501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E15B896-460E-487D-8C0C-36C0A3F932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96D498-A201-4FFD-9BAF-CB0BBD5F8578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F11F87-D904-4354-8BCF-46E325617586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480BBD-8AB9-4D73-AF9D-08B3B799B500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617E1-4B71-483B-8A1F-673922062FC2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3: Functional 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575751-F063-4E27-A6D0-E9980944E3A2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Define the final major module and its contribution to the complete product.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31E1B3-D214-4008-8EB3-77AEA9A87D13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2E56E3-8AD1-414F-AE63-90C54692E409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E435D6-2ACE-4991-84F0-479E119B4AB3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C90A5A-25AC-4D4A-9867-4F04EBFF6901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3F0EDE-9F5F-4CFB-BD86-4B754F2D0DB5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7E437F-F29E-4B7F-AF5E-809A74F4F9DB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530AB5-46BB-4E20-8EAF-1DCD27E11DEA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333760-26A0-4381-8F9A-3AA17EDDC681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PURPOSE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F9D39E-F443-4A9B-B61C-DA1485066CBC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Compares each SKU’s forecasted demand against current stock and reorder threshold, and automatically raises an alert (and draft purchase order) before a stockout occurs. Satisfies Objective O3.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D67BEB-C214-4BAA-B0DA-F607ED82AD13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E0AC0D-0F75-4D51-8F7C-1A5338BC598C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5AD716-4941-4B17-A3D5-4BAABC81C955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INTERFACE CONTRACT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542DB0-A247-44E5-A15B-576C534A4944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Input: forecast_results + live stock_ledger + per-SKU reorder threshold. Output: alert(store_id, sku, days_to_stockout, suggested_qty) via SNS -&gt; email/SMS/dashboard, plus a draft reorder record.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8ACD07-8439-4DBE-9ADA-3F77D96EA4D5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285897-C289-4B8D-A062-C378A67BC7E3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9145E2-612A-4529-BA80-AE3A77A14EE4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ENGINEERING DECISION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2DB2B7-7D39-4FF1-A32E-47FAAD31410B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Rule engine (forecast vs. stock vs. lead-time buffer) on a scheduled Fargate/Lambda task, rather than a full ML-based reorder optimizer — keeps the decision explainable to store managers and cheap to run; ML-based dynamic safety stock considered for a future iteration.</a:t>
            </a:r>
          </a:p>
        </p:txBody>
      </p:sp>
    </p:spTree>
    <p:extLst>
      <p:ext uri="{BB962C8B-B14F-4D97-AF65-F5344CB8AC3E}">
        <p14:creationId xmlns:p14="http://schemas.microsoft.com/office/powerpoint/2010/main" val="7771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79ED20E-27A4-443C-B1E3-4794DAEA27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24E38B-5043-4CE6-A274-7E4789F3174A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D6C831-3E2F-4A14-A706-B7866FA53188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713506-582F-4119-9CE7-7415BFDA0E36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ECDFB-8507-46B1-B898-FCA5013E3592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3: Technical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1CF12-ACBD-4D5C-9937-662FADEDD14B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Defend the integration logic, processing method and operational safeguards.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12CA9B-FC3F-4AF4-B2FF-10853E6ACDE7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2FC7BB-D786-4EF3-9945-C81C60318A46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AA5CA7-5622-4B49-89AD-1EF6095BEBD7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CA995B-EC1E-4910-9B55-AAF68CD7E9C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6EDC2D-43BE-4522-9D1D-3793997845DA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472659-F19F-4B39-9F5C-0ED87B6BAD6D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5E1F57-E509-4F49-BA12-ACB96F54D01B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32288A-E396-4C01-8C24-2D84C264618C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DESIGN AND DECISION 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DC4A6-2A91-4416-A123-7A4C78BEC245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Scheduled trigger -&gt; join forecast_results with stock_ledger -&gt; compute projected days-of-stock -&gt; if below lead-time buffer, create alert + draft PO -&gt; publish to SNS -&gt; dashboard/email/SMS notification -&gt; manager confirms or edits PO.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Input -&gt; validation -&gt; processing -&gt; data/service call -&gt; output -&gt; error path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Label the algorithm, data transformation, API contract and control decision.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CA517-E8D4-4447-BBE7-4A635379C2A1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9D240-A23D-4706-970F-2C957075D0E8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76743A-AA8C-4F76-8899-409EBA3C312C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TECHNICAL DEFENSE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A47EDC-7168-41CE-A7FA-90F1EA307692}"/>
              </a:ext>
            </a:extLst>
          </p:cNvPr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days_of_stock = current_stock / avg(forecast_qty); alert fires when days_of_stock &lt; supplier_lead_time + safety_margin.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reorder_rules(sku, lead_time_days, safety_margin, min_order_qty); alerts(alert_id, store_id, sku, days_to_stockout, status).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Runs once per store per day; O(SKUs per store); completes in well under a minute per store.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Alert delivery retried via SQS on SNS failure; duplicate-alert suppression window of 24h per SKU to avoid alert fatigue.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Real-time per-transaction alerting was rejected — daily batch evaluation is sufficient given supplier lead times and avoids unnecessary always-on compute.</a:t>
            </a:r>
          </a:p>
        </p:txBody>
      </p:sp>
    </p:spTree>
    <p:extLst>
      <p:ext uri="{BB962C8B-B14F-4D97-AF65-F5344CB8AC3E}">
        <p14:creationId xmlns:p14="http://schemas.microsoft.com/office/powerpoint/2010/main" val="944760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D10FAF45-782A-42BA-88EC-2DFB4A2F96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A50E89-72EC-4084-A53A-9808B392C7A5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FC92C2-0829-461B-977F-A0616AC472C3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6D5A0-B119-4DA9-A3E0-4D9390607055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2CBAA5-224C-4995-837B-974B91CE2C31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3: Implementation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0F5B60-B969-4BA5-B00A-EA17EF4CC444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Prove the final module produces the expected product-level output.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525CB-8470-4369-8785-B27304E399D7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C6C6DE-5AB0-4C66-8876-E1163A379DAF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F2C78-BB55-4A96-A739-C000FCF24AF4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56B59B-6629-424E-8130-D9F5D5C9C014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1B6AD2-2F53-4457-A5E3-3530FD6B5CC6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79F745-E745-4515-A092-81BB1D15E5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2F499E8-9B7F-47DC-899B-CB0DE7D57D21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863699-BBB7-4381-8AAE-99FFD5E0E6BC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0F7A29-ADF6-4486-B5F6-21A89B382910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3: Implementation 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0F262F-2150-465C-88BF-741E767C4FCA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Prove the final module produces the expected product-level output.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60FD9C-FAAB-45D5-9C08-671112AFFAE8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6C2203-9739-4C00-B485-9DB142F32A9D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7EDD40-E5D7-47E5-98A9-68D802CAB5F9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CA2D99-427B-4410-8D89-C046E38426B7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AA63CF-9375-451B-AD41-F245FBD394E3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C40DDE-4D8B-45CF-8B93-A963EEE17796}"/>
              </a:ext>
            </a:extLst>
          </p:cNvPr>
          <p:cNvSpPr>
            <a:spLocks noGrp="1"/>
          </p:cNvSpPr>
          <p:nvPr/>
        </p:nvSpPr>
        <p:spPr>
          <a:xfrm>
            <a:off x="514350" y="2133600"/>
            <a:ext cx="653415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11DD96-3B56-48C4-A5DD-5803D063AF2C}"/>
              </a:ext>
            </a:extLst>
          </p:cNvPr>
          <p:cNvSpPr>
            <a:spLocks noGrp="1"/>
          </p:cNvSpPr>
          <p:nvPr/>
        </p:nvSpPr>
        <p:spPr>
          <a:xfrm>
            <a:off x="809625" y="3333750"/>
            <a:ext cx="5943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1264A3"/>
                </a:solidFill>
              </a:defRPr>
            </a:pPr>
            <a:r>
              <a:rPr sz="1425" b="1">
                <a:solidFill>
                  <a:srgbClr val="1264A3"/>
                </a:solidFill>
              </a:rPr>
              <a:t>[PASTE MODULE 3 SCREENSHOT / OUTPUT / GRAPH]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DF04FE-B11B-4B8B-938E-9E82FC083534}"/>
              </a:ext>
            </a:extLst>
          </p:cNvPr>
          <p:cNvSpPr>
            <a:spLocks noGrp="1"/>
          </p:cNvSpPr>
          <p:nvPr/>
        </p:nvSpPr>
        <p:spPr>
          <a:xfrm>
            <a:off x="876300" y="39528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52677A"/>
                </a:solidFill>
              </a:defRPr>
            </a:pPr>
            <a:r>
              <a:rPr sz="1050" b="0">
                <a:solidFill>
                  <a:srgbClr val="52677A"/>
                </a:solidFill>
              </a:rPr>
              <a:t>Use a readable image. Crop browser chrome and expose the result, not an empty interface.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3E7E31-6115-41CB-94AD-C5991B8C085D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2CFE2F-F3C1-40A7-8E3D-07876557F311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57150" cy="10668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D6A6BA-4FED-4DF4-B514-DA07B6F00D46}"/>
              </a:ext>
            </a:extLst>
          </p:cNvPr>
          <p:cNvSpPr>
            <a:spLocks noGrp="1"/>
          </p:cNvSpPr>
          <p:nvPr/>
        </p:nvSpPr>
        <p:spPr>
          <a:xfrm>
            <a:off x="7505700" y="22860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BUILD DETAILS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D85D46-F0FB-4E8A-9E4A-E7E719642F3F}"/>
              </a:ext>
            </a:extLst>
          </p:cNvPr>
          <p:cNvSpPr>
            <a:spLocks noGrp="1"/>
          </p:cNvSpPr>
          <p:nvPr/>
        </p:nvSpPr>
        <p:spPr>
          <a:xfrm>
            <a:off x="7505700" y="259080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Scheduled AWS Fargate task (or Lambda), SNS for notification fan-out, SES/SNS for email/SMS.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4DE832-4531-4988-A24F-0F96709B3BDA}"/>
              </a:ext>
            </a:extLst>
          </p:cNvPr>
          <p:cNvSpPr>
            <a:spLocks noGrp="1"/>
          </p:cNvSpPr>
          <p:nvPr/>
        </p:nvSpPr>
        <p:spPr>
          <a:xfrm>
            <a:off x="7296150" y="333375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A3859B-DA46-4E2B-AB5C-B031D3F025EA}"/>
              </a:ext>
            </a:extLst>
          </p:cNvPr>
          <p:cNvSpPr>
            <a:spLocks noGrp="1"/>
          </p:cNvSpPr>
          <p:nvPr/>
        </p:nvSpPr>
        <p:spPr>
          <a:xfrm>
            <a:off x="7296150" y="3333750"/>
            <a:ext cx="57150" cy="10668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7DE8F0-F825-4FB2-9DEB-C63FC5F3F0E3}"/>
              </a:ext>
            </a:extLst>
          </p:cNvPr>
          <p:cNvSpPr>
            <a:spLocks noGrp="1"/>
          </p:cNvSpPr>
          <p:nvPr/>
        </p:nvSpPr>
        <p:spPr>
          <a:xfrm>
            <a:off x="7505700" y="348615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VALIDATION EVIDENCE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391408-4314-46E3-80B2-1E48BD90F166}"/>
              </a:ext>
            </a:extLst>
          </p:cNvPr>
          <p:cNvSpPr>
            <a:spLocks noGrp="1"/>
          </p:cNvSpPr>
          <p:nvPr/>
        </p:nvSpPr>
        <p:spPr>
          <a:xfrm>
            <a:off x="7505700" y="379095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Simulated depleting-stock scenarios and confirmed alerts fired ahead of the actual stockout point — ADD YOUR MEASURED lead-time and false-alert rate.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1A2195-32BB-49F7-A8D0-9A3C6363D932}"/>
              </a:ext>
            </a:extLst>
          </p:cNvPr>
          <p:cNvSpPr>
            <a:spLocks noGrp="1"/>
          </p:cNvSpPr>
          <p:nvPr/>
        </p:nvSpPr>
        <p:spPr>
          <a:xfrm>
            <a:off x="7296150" y="4533900"/>
            <a:ext cx="43719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AF4645-2DBD-4461-AA93-CDB38D1FFECE}"/>
              </a:ext>
            </a:extLst>
          </p:cNvPr>
          <p:cNvSpPr>
            <a:spLocks noGrp="1"/>
          </p:cNvSpPr>
          <p:nvPr/>
        </p:nvSpPr>
        <p:spPr>
          <a:xfrm>
            <a:off x="7296150" y="4533900"/>
            <a:ext cx="57150" cy="13144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A0D4E1-865D-4953-A6A0-E1F07433DB2E}"/>
              </a:ext>
            </a:extLst>
          </p:cNvPr>
          <p:cNvSpPr>
            <a:spLocks noGrp="1"/>
          </p:cNvSpPr>
          <p:nvPr/>
        </p:nvSpPr>
        <p:spPr>
          <a:xfrm>
            <a:off x="7505700" y="46863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MODULE HAND-OFF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AD2C9A-99A9-4EAA-85E8-2413235C599C}"/>
              </a:ext>
            </a:extLst>
          </p:cNvPr>
          <p:cNvSpPr>
            <a:spLocks noGrp="1"/>
          </p:cNvSpPr>
          <p:nvPr/>
        </p:nvSpPr>
        <p:spPr>
          <a:xfrm>
            <a:off x="7505700" y="4991100"/>
            <a:ext cx="3971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Alerts and draft purchase orders surfaced on the manager dashboard (Integrated Product) as the final user-facing output.</a:t>
            </a:r>
          </a:p>
        </p:txBody>
      </p:sp>
    </p:spTree>
    <p:extLst>
      <p:ext uri="{BB962C8B-B14F-4D97-AF65-F5344CB8AC3E}">
        <p14:creationId xmlns:p14="http://schemas.microsoft.com/office/powerpoint/2010/main" val="1253652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F0ED240-49FA-499F-877F-5A2847F4EE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DEF535-DF8E-48AE-9658-C35686D9830F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BCD51-1B79-4650-9A42-A23D635E4C0E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89B918-8540-4C61-A08C-44380BD6C3B4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B96EB0-E627-402F-8662-FECACE3D72F2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Integrated Product Implementation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93980B-C742-4EF6-BE6E-D59B6E845A8C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Connect frontend, backend, data and cloud operations to the implemented user experience.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9176CF-C126-48FB-9956-4809521BAE28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B1B1BF-F8B5-4AFB-B5C4-9CC5249FAF3C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17FE3E-BE0A-45CF-996F-28983C9D963B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293BDF-94B6-42F4-9C67-A7FF0FE1CF50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F2FEC7-7547-4541-8A45-B5F8102BA10E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C6EC8E-797D-4DB9-97D9-309AEAA606C8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9ACDF1-E3D5-4474-914E-D105D63F7490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1764D6-A7DB-4D3B-A0CA-F33E243F3254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IMPLEMENTED PRODUCT SURFACE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2B5286-E19B-4642-8CE2-585216BAFB8E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[PASTE 2-3 READABLE PRODUCT SCREENSHOTS]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Label each screenshot with the user action, working feature and linked module.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EB43BA-F05A-4303-9CD9-8A4E8E51A879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C5E153-B5CF-4C3A-A435-2007B09D4125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F80ED1-6231-4D90-BC9E-1A95CAAB6750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TECHNOLOGY AND DEPLOYMENT INVENTORY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E543D3-27EE-4F91-944C-B08B74B535DF}"/>
              </a:ext>
            </a:extLst>
          </p:cNvPr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Frontend: React.js + Tailwind manager dashboard, deployed as a static site on S3/CloudFront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Backend / API: Node.js/Express microservices behind Amazon API Gateway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Database / Storage: Amazon RDS (PostgreSQL) + S3 (sales history &amp; model artifacts) + ElastiCache (Redis)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Authentication: AWS Cognito, JWT, role-based access (store staff vs. regional manager)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Cloud / DevOps: AWS ECS Fargate + Lambda, Terraform/SAM for IaC, GitHub Actions CI/CD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Monitoring / Analytics: Amazon CloudWatch metrics/alarms, SNS notifications, Grafana dashboard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Repository + branch/tag: ADD YOUR REPOSITORY LINK + branch/tag</a:t>
            </a:r>
          </a:p>
        </p:txBody>
      </p:sp>
    </p:spTree>
    <p:extLst>
      <p:ext uri="{BB962C8B-B14F-4D97-AF65-F5344CB8AC3E}">
        <p14:creationId xmlns:p14="http://schemas.microsoft.com/office/powerpoint/2010/main" val="1332594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0B44F3E-7353-4047-B2FE-7A7B2B2093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8F386E-9063-410A-A795-20058E584276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5E5422-9EBB-42BF-96A6-B6DBDC51EDE3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309372-4133-4A9F-A74B-639F85EAB1D9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5BD936-DECB-4CB2-BB67-C57391509EE3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Deployment and Functional 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A876AC-8AAB-41F8-89C4-E3D502D1568C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Trace one complete request from user input to cloud processing and returned output.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92D1F4-B2AC-46A0-9C88-924813EECDCF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95240E-F12D-4DB5-9BE1-9343EEE71984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94B397-A3A0-4D5E-BCDE-6EB9878DB512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C318D-8C26-44DD-AC0A-542B05BBC71B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C68F54-9F10-43EC-8249-68632E477E4A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70244C-0328-4ACB-B0B3-CDC2971281F2}"/>
              </a:ext>
            </a:extLst>
          </p:cNvPr>
          <p:cNvSpPr>
            <a:spLocks noGrp="1"/>
          </p:cNvSpPr>
          <p:nvPr/>
        </p:nvSpPr>
        <p:spPr>
          <a:xfrm>
            <a:off x="514350" y="2381250"/>
            <a:ext cx="2616994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B0ABAF-A8FC-4A69-A31D-0C8EE2D3DAE8}"/>
              </a:ext>
            </a:extLst>
          </p:cNvPr>
          <p:cNvSpPr>
            <a:spLocks noGrp="1"/>
          </p:cNvSpPr>
          <p:nvPr/>
        </p:nvSpPr>
        <p:spPr>
          <a:xfrm>
            <a:off x="628650" y="2590800"/>
            <a:ext cx="238839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D70854F-6388-4157-B18C-5C93D029E72D}"/>
              </a:ext>
            </a:extLst>
          </p:cNvPr>
          <p:cNvSpPr>
            <a:spLocks noGrp="1"/>
          </p:cNvSpPr>
          <p:nvPr/>
        </p:nvSpPr>
        <p:spPr>
          <a:xfrm>
            <a:off x="3159919" y="274320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C81888-22A5-41ED-A206-238C6EC888E9}"/>
              </a:ext>
            </a:extLst>
          </p:cNvPr>
          <p:cNvSpPr>
            <a:spLocks noGrp="1"/>
          </p:cNvSpPr>
          <p:nvPr/>
        </p:nvSpPr>
        <p:spPr>
          <a:xfrm>
            <a:off x="3359944" y="2381250"/>
            <a:ext cx="2616994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2773D8-E8B8-4D70-A337-A79E213B0D54}"/>
              </a:ext>
            </a:extLst>
          </p:cNvPr>
          <p:cNvSpPr>
            <a:spLocks noGrp="1"/>
          </p:cNvSpPr>
          <p:nvPr/>
        </p:nvSpPr>
        <p:spPr>
          <a:xfrm>
            <a:off x="3474244" y="2590800"/>
            <a:ext cx="238839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API + PROCESSING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B4AF216-CCBC-4D56-9AD8-317425BEA4F3}"/>
              </a:ext>
            </a:extLst>
          </p:cNvPr>
          <p:cNvSpPr>
            <a:spLocks noGrp="1"/>
          </p:cNvSpPr>
          <p:nvPr/>
        </p:nvSpPr>
        <p:spPr>
          <a:xfrm>
            <a:off x="6005513" y="274320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7DA7F7-E15D-4419-A291-D03A85E86B24}"/>
              </a:ext>
            </a:extLst>
          </p:cNvPr>
          <p:cNvSpPr>
            <a:spLocks noGrp="1"/>
          </p:cNvSpPr>
          <p:nvPr/>
        </p:nvSpPr>
        <p:spPr>
          <a:xfrm>
            <a:off x="6205538" y="2381250"/>
            <a:ext cx="2616994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A77351-0300-4B5E-A686-CCD927038B9C}"/>
              </a:ext>
            </a:extLst>
          </p:cNvPr>
          <p:cNvSpPr>
            <a:spLocks noGrp="1"/>
          </p:cNvSpPr>
          <p:nvPr/>
        </p:nvSpPr>
        <p:spPr>
          <a:xfrm>
            <a:off x="6319838" y="2590800"/>
            <a:ext cx="238839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CLOUD DATA / SERVICE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5E470A6-6AE6-4AFE-8B26-00B6722696A7}"/>
              </a:ext>
            </a:extLst>
          </p:cNvPr>
          <p:cNvSpPr>
            <a:spLocks noGrp="1"/>
          </p:cNvSpPr>
          <p:nvPr/>
        </p:nvSpPr>
        <p:spPr>
          <a:xfrm>
            <a:off x="8851106" y="274320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14EF84-76D1-4A15-9F75-7032EE326978}"/>
              </a:ext>
            </a:extLst>
          </p:cNvPr>
          <p:cNvSpPr>
            <a:spLocks noGrp="1"/>
          </p:cNvSpPr>
          <p:nvPr/>
        </p:nvSpPr>
        <p:spPr>
          <a:xfrm>
            <a:off x="9051131" y="2381250"/>
            <a:ext cx="2616994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5FC52B-23D0-4F97-B6B8-37A558F27DE7}"/>
              </a:ext>
            </a:extLst>
          </p:cNvPr>
          <p:cNvSpPr>
            <a:spLocks noGrp="1"/>
          </p:cNvSpPr>
          <p:nvPr/>
        </p:nvSpPr>
        <p:spPr>
          <a:xfrm>
            <a:off x="9165431" y="2590800"/>
            <a:ext cx="238839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RESPONSE + EVIDENCE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FBE343-5C08-4874-89DD-D8F8C60E989E}"/>
              </a:ext>
            </a:extLst>
          </p:cNvPr>
          <p:cNvSpPr>
            <a:spLocks noGrp="1"/>
          </p:cNvSpPr>
          <p:nvPr/>
        </p:nvSpPr>
        <p:spPr>
          <a:xfrm>
            <a:off x="514350" y="3943350"/>
            <a:ext cx="3565525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413443-7F5D-477F-9A01-D42F62C2449D}"/>
              </a:ext>
            </a:extLst>
          </p:cNvPr>
          <p:cNvSpPr>
            <a:spLocks noGrp="1"/>
          </p:cNvSpPr>
          <p:nvPr/>
        </p:nvSpPr>
        <p:spPr>
          <a:xfrm>
            <a:off x="514350" y="3943350"/>
            <a:ext cx="57150" cy="19050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A5C576-7670-4B02-AD3F-7FC2FAD0CF7D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DEPLOYMENT ENVIRONMENT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E7FDD0-58E3-4E2F-A8CB-8F1E98127F0C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31654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AWS, ap-south-1 region; ECS Fargate + Lambda runtime; API Gateway endpoint — ADD YOUR ACTUAL ENDPOINT URL.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1626A4-4591-4374-BE04-B276CBA946B9}"/>
              </a:ext>
            </a:extLst>
          </p:cNvPr>
          <p:cNvSpPr>
            <a:spLocks noGrp="1"/>
          </p:cNvSpPr>
          <p:nvPr/>
        </p:nvSpPr>
        <p:spPr>
          <a:xfrm>
            <a:off x="4308475" y="3943350"/>
            <a:ext cx="3565525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B50DDF-4F1F-4DF6-BF2A-763528089D19}"/>
              </a:ext>
            </a:extLst>
          </p:cNvPr>
          <p:cNvSpPr>
            <a:spLocks noGrp="1"/>
          </p:cNvSpPr>
          <p:nvPr/>
        </p:nvSpPr>
        <p:spPr>
          <a:xfrm>
            <a:off x="4308475" y="3943350"/>
            <a:ext cx="57150" cy="19050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47FE4A-2B6C-453C-A553-1068AC714E8E}"/>
              </a:ext>
            </a:extLst>
          </p:cNvPr>
          <p:cNvSpPr>
            <a:spLocks noGrp="1"/>
          </p:cNvSpPr>
          <p:nvPr/>
        </p:nvSpPr>
        <p:spPr>
          <a:xfrm>
            <a:off x="4518025" y="4095750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FUNCTIONAL PROOF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178520-4179-453A-ABE7-015FCEE944E1}"/>
              </a:ext>
            </a:extLst>
          </p:cNvPr>
          <p:cNvSpPr>
            <a:spLocks noGrp="1"/>
          </p:cNvSpPr>
          <p:nvPr/>
        </p:nvSpPr>
        <p:spPr>
          <a:xfrm>
            <a:off x="4518025" y="4400550"/>
            <a:ext cx="31654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Demo path: manager opens dashboard -&gt; low-stock SKU flagged -&gt; POST /alerts/{id}/reorder confirms PO -&gt; 200 OK with PO id returned. ADD YOUR ACTUAL REQUEST/RESPONSE SCREENSHOT + LINK.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B6622E-2FAA-4BF7-8128-0FC474C6B426}"/>
              </a:ext>
            </a:extLst>
          </p:cNvPr>
          <p:cNvSpPr>
            <a:spLocks noGrp="1"/>
          </p:cNvSpPr>
          <p:nvPr/>
        </p:nvSpPr>
        <p:spPr>
          <a:xfrm>
            <a:off x="8102600" y="3943350"/>
            <a:ext cx="3565525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E0AD3F-AC24-41C4-AB73-0B8D74163115}"/>
              </a:ext>
            </a:extLst>
          </p:cNvPr>
          <p:cNvSpPr>
            <a:spLocks noGrp="1"/>
          </p:cNvSpPr>
          <p:nvPr/>
        </p:nvSpPr>
        <p:spPr>
          <a:xfrm>
            <a:off x="8102600" y="3943350"/>
            <a:ext cx="57150" cy="19050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68754D-CB6E-46CD-A6DC-FFDD9909BC65}"/>
              </a:ext>
            </a:extLst>
          </p:cNvPr>
          <p:cNvSpPr>
            <a:spLocks noGrp="1"/>
          </p:cNvSpPr>
          <p:nvPr/>
        </p:nvSpPr>
        <p:spPr>
          <a:xfrm>
            <a:off x="8312150" y="4095750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OPERATIONAL PROOF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C3FDB0-C613-4043-A797-76CD088BE95C}"/>
              </a:ext>
            </a:extLst>
          </p:cNvPr>
          <p:cNvSpPr>
            <a:spLocks noGrp="1"/>
          </p:cNvSpPr>
          <p:nvPr/>
        </p:nvSpPr>
        <p:spPr>
          <a:xfrm>
            <a:off x="8312150" y="4400550"/>
            <a:ext cx="31654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CloudWatch health checks green, SNS delivery logs, and a documented rollback path (previous ECS task definition). ADD YOUR LOGS/SCREENSHOT.</a:t>
            </a:r>
          </a:p>
        </p:txBody>
      </p:sp>
    </p:spTree>
    <p:extLst>
      <p:ext uri="{BB962C8B-B14F-4D97-AF65-F5344CB8AC3E}">
        <p14:creationId xmlns:p14="http://schemas.microsoft.com/office/powerpoint/2010/main" val="612075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FC2FEDE-7362-4F5C-B036-E6896B812A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B61A00-5752-460C-9662-BBEA428366D4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6EA2078-D00E-46C8-B32A-7AA70CBDECFF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FA45AA-B424-4CAD-8E65-448E6080F800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2C3362-9CCA-43FD-8BDB-CF97AB63AF9D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Results and Performance Evaluation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74B04A-EEE1-4BDA-9FC1-3B3F1AFB4FED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Compare achieved measurements with targets or a meaningful baseline.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D67527-C171-4236-9940-569740434B0B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D067DA-5D2A-400F-A796-C17D56232868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E90115-B9F6-4C0F-91E2-B7A7BABC0546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3A0095-E3D4-4E84-870A-D9F226A23BD0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66D8BC-89D4-4E82-A129-45A79D37E3E3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2CA17D-DDF8-4CB5-A90F-DF60388C11EC}"/>
              </a:ext>
            </a:extLst>
          </p:cNvPr>
          <p:cNvSpPr>
            <a:spLocks noGrp="1"/>
          </p:cNvSpPr>
          <p:nvPr/>
        </p:nvSpPr>
        <p:spPr>
          <a:xfrm>
            <a:off x="514350" y="2133600"/>
            <a:ext cx="464820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6A8E8B-308F-4B41-A892-CD582F745217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400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1264A3"/>
                </a:solidFill>
              </a:defRPr>
            </a:pPr>
            <a:r>
              <a:rPr sz="1425" b="1">
                <a:solidFill>
                  <a:srgbClr val="1264A3"/>
                </a:solidFill>
              </a:rPr>
              <a:t>[PASTE PERFORMANCE GRAPH / BASELINE COMPARISON]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BFCC01-9E47-474E-BDD9-61ED6F6C1CBE}"/>
              </a:ext>
            </a:extLst>
          </p:cNvPr>
          <p:cNvSpPr>
            <a:spLocks noGrp="1"/>
          </p:cNvSpPr>
          <p:nvPr/>
        </p:nvSpPr>
        <p:spPr>
          <a:xfrm>
            <a:off x="5410200" y="2133600"/>
            <a:ext cx="1952625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440C5-B59A-4169-B83C-AC6CD013CDA9}"/>
              </a:ext>
            </a:extLst>
          </p:cNvPr>
          <p:cNvSpPr>
            <a:spLocks noGrp="1"/>
          </p:cNvSpPr>
          <p:nvPr/>
        </p:nvSpPr>
        <p:spPr>
          <a:xfrm>
            <a:off x="5410200" y="2133600"/>
            <a:ext cx="57150" cy="173355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0250A7-0B50-4865-88C6-32F2FD2C1CC8}"/>
              </a:ext>
            </a:extLst>
          </p:cNvPr>
          <p:cNvSpPr>
            <a:spLocks noGrp="1"/>
          </p:cNvSpPr>
          <p:nvPr/>
        </p:nvSpPr>
        <p:spPr>
          <a:xfrm>
            <a:off x="5619750" y="2286000"/>
            <a:ext cx="1552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FORECAST ACCURACY (MAPE)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732CC2-3CAA-48FB-8854-14FD0AFFAE71}"/>
              </a:ext>
            </a:extLst>
          </p:cNvPr>
          <p:cNvSpPr>
            <a:spLocks noGrp="1"/>
          </p:cNvSpPr>
          <p:nvPr/>
        </p:nvSpPr>
        <p:spPr>
          <a:xfrm>
            <a:off x="5619750" y="2590800"/>
            <a:ext cx="1552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Target: MAPE &lt;=10% on top-moving SKUs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Achieved: ADD YOUR BACKTEST RESULT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Interpretation: ADD — e.g., forecast reliable enough to trigger automated reorders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AD1FA8-057C-4078-A3A2-C97B51234032}"/>
              </a:ext>
            </a:extLst>
          </p:cNvPr>
          <p:cNvSpPr>
            <a:spLocks noGrp="1"/>
          </p:cNvSpPr>
          <p:nvPr/>
        </p:nvSpPr>
        <p:spPr>
          <a:xfrm>
            <a:off x="7562850" y="2133600"/>
            <a:ext cx="1952625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F69BE0-977D-4B00-8CAA-55AB9E59C69A}"/>
              </a:ext>
            </a:extLst>
          </p:cNvPr>
          <p:cNvSpPr>
            <a:spLocks noGrp="1"/>
          </p:cNvSpPr>
          <p:nvPr/>
        </p:nvSpPr>
        <p:spPr>
          <a:xfrm>
            <a:off x="7562850" y="2133600"/>
            <a:ext cx="57150" cy="173355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08C045-03F2-41EE-B898-C492A877FBE8}"/>
              </a:ext>
            </a:extLst>
          </p:cNvPr>
          <p:cNvSpPr>
            <a:spLocks noGrp="1"/>
          </p:cNvSpPr>
          <p:nvPr/>
        </p:nvSpPr>
        <p:spPr>
          <a:xfrm>
            <a:off x="7772400" y="2286000"/>
            <a:ext cx="1552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SYNC / ALERT LATENCY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E1F879-A915-44E0-828A-0CE2925E6406}"/>
              </a:ext>
            </a:extLst>
          </p:cNvPr>
          <p:cNvSpPr>
            <a:spLocks noGrp="1"/>
          </p:cNvSpPr>
          <p:nvPr/>
        </p:nvSpPr>
        <p:spPr>
          <a:xfrm>
            <a:off x="7772400" y="2590800"/>
            <a:ext cx="1552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Target: stock sync &lt;=5s, reorder alert &gt;=48h before stockout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Achieved: ADD YOUR MEASURED VALUE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Interpretation: ADD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48EA6B-DEAA-4534-B4F3-F6B3FF2C2C81}"/>
              </a:ext>
            </a:extLst>
          </p:cNvPr>
          <p:cNvSpPr>
            <a:spLocks noGrp="1"/>
          </p:cNvSpPr>
          <p:nvPr/>
        </p:nvSpPr>
        <p:spPr>
          <a:xfrm>
            <a:off x="9715500" y="2133600"/>
            <a:ext cx="1952625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501B9-F1FF-4AAE-B44D-BDE9D6E2BB08}"/>
              </a:ext>
            </a:extLst>
          </p:cNvPr>
          <p:cNvSpPr>
            <a:spLocks noGrp="1"/>
          </p:cNvSpPr>
          <p:nvPr/>
        </p:nvSpPr>
        <p:spPr>
          <a:xfrm>
            <a:off x="9715500" y="2133600"/>
            <a:ext cx="57150" cy="17335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51B481-1270-42F9-8393-3276C47FC592}"/>
              </a:ext>
            </a:extLst>
          </p:cNvPr>
          <p:cNvSpPr>
            <a:spLocks noGrp="1"/>
          </p:cNvSpPr>
          <p:nvPr/>
        </p:nvSpPr>
        <p:spPr>
          <a:xfrm>
            <a:off x="9925050" y="2286000"/>
            <a:ext cx="1552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CLOUD COST / GREEN EFFICIENCY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DFC90A-00AC-46D0-9B94-AE8CA9EC9A0F}"/>
              </a:ext>
            </a:extLst>
          </p:cNvPr>
          <p:cNvSpPr>
            <a:spLocks noGrp="1"/>
          </p:cNvSpPr>
          <p:nvPr/>
        </p:nvSpPr>
        <p:spPr>
          <a:xfrm>
            <a:off x="9925050" y="2590800"/>
            <a:ext cx="1552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Target: &lt;=30% of an always-on baseline compute cost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Achieved: ADD YOUR BILLING/UTILIZATION COMPARISON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Interpretation: ADD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2EE5DF-424C-4170-9F2B-026B1469FA5C}"/>
              </a:ext>
            </a:extLst>
          </p:cNvPr>
          <p:cNvSpPr>
            <a:spLocks noGrp="1"/>
          </p:cNvSpPr>
          <p:nvPr/>
        </p:nvSpPr>
        <p:spPr>
          <a:xfrm>
            <a:off x="5410200" y="4076700"/>
            <a:ext cx="6257925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3E4F77-98D2-49AE-9313-059A3586BE42}"/>
              </a:ext>
            </a:extLst>
          </p:cNvPr>
          <p:cNvSpPr>
            <a:spLocks noGrp="1"/>
          </p:cNvSpPr>
          <p:nvPr/>
        </p:nvSpPr>
        <p:spPr>
          <a:xfrm>
            <a:off x="5410200" y="4076700"/>
            <a:ext cx="57150" cy="17716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DB57EF-8CAA-4261-9B4C-0E57F6950A67}"/>
              </a:ext>
            </a:extLst>
          </p:cNvPr>
          <p:cNvSpPr>
            <a:spLocks noGrp="1"/>
          </p:cNvSpPr>
          <p:nvPr/>
        </p:nvSpPr>
        <p:spPr>
          <a:xfrm>
            <a:off x="5619750" y="4229100"/>
            <a:ext cx="58578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2E4F"/>
                </a:solidFill>
              </a:defRPr>
            </a:pPr>
            <a:r>
              <a:rPr sz="900" b="1">
                <a:solidFill>
                  <a:srgbClr val="0B2E4F"/>
                </a:solidFill>
              </a:rPr>
              <a:t>EVALUATION CONCLUSION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64AF8B-6E4D-4918-BA41-BBE6DC822B62}"/>
              </a:ext>
            </a:extLst>
          </p:cNvPr>
          <p:cNvSpPr>
            <a:spLocks noGrp="1"/>
          </p:cNvSpPr>
          <p:nvPr/>
        </p:nvSpPr>
        <p:spPr>
          <a:xfrm>
            <a:off x="5619750" y="4533900"/>
            <a:ext cx="5857875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Tested against historical sales data across the pilot store set, compared with a static always-on baseline deployment. ADD your observed bottleneck (e.g., cold-start latency) and the improvement it supports.</a:t>
            </a:r>
          </a:p>
        </p:txBody>
      </p:sp>
    </p:spTree>
    <p:extLst>
      <p:ext uri="{BB962C8B-B14F-4D97-AF65-F5344CB8AC3E}">
        <p14:creationId xmlns:p14="http://schemas.microsoft.com/office/powerpoint/2010/main" val="1410188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Rectangle 551">
            <a:extLst>
              <a:ext uri="{FF2B5EF4-FFF2-40B4-BE49-F238E27FC236}">
                <a16:creationId xmlns:a16="http://schemas.microsoft.com/office/drawing/2014/main" id="{A44241CB-C660-4CA6-81FF-44031D6D2D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553" name="Rectangle: Rounded Corners 552">
            <a:extLst>
              <a:ext uri="{FF2B5EF4-FFF2-40B4-BE49-F238E27FC236}">
                <a16:creationId xmlns:a16="http://schemas.microsoft.com/office/drawing/2014/main" id="{10B71EEF-97AB-4C81-9D17-5741F232C0E1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68" name="Picture 56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555" name="Rectangle 554">
            <a:extLst>
              <a:ext uri="{FF2B5EF4-FFF2-40B4-BE49-F238E27FC236}">
                <a16:creationId xmlns:a16="http://schemas.microsoft.com/office/drawing/2014/main" id="{5CCE3D42-43BC-4CD4-82A6-87BDBA1CC17B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3F957FE8-F5F9-4AE2-8CA4-E6A3DE2F9D97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328C4008-8585-4274-8D84-453D53291BD4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Test and Validation Evidence</a:t>
            </a: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FC695601-8C63-4251-87A8-EA4CF978AFD6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Use reproducible test cases, expected outcomes and linked proof.</a:t>
            </a: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9BD9C6BD-45DC-42CF-94B1-3B653232EC11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6CF5C3D6-78CA-4866-937E-B4EABC1319E1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F4169127-9CC1-4C5D-9297-9F0BB2CD9FD7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93B83011-9EC8-468C-A70D-7FACFA925C5B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20</a:t>
            </a: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1B1DC323-2D9E-47D6-B618-AD6C65733BA0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graphicFrame>
        <p:nvGraphicFramePr>
          <p:cNvPr id="578" name="Table 577"/>
          <p:cNvGraphicFramePr/>
          <p:nvPr/>
        </p:nvGraphicFramePr>
        <p:xfrm>
          <a:off x="514350" y="2133600"/>
          <a:ext cx="11153775" cy="371475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6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Test ID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Scenario / Condition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Expected Outcome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Actual Outcome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Status / Evidence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Normal sale reduces stock and reflects on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Ledger + dashboard updated within 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ADD YOUR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ADD PASS/FAIL + evidence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T02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Malformed POS payload submitted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Rejected with 400, routed to DLQ, ledger unaffected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ADD YOUR RESULT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ADD PASS/FAIL + evidence link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Burst of 50,000 events/day simulated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p95 sync latency &lt;=5s, no dropped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ADD YOUR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ADD PASS/FAIL + evidence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T04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Forecast service temporarily unavailable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Alert engine falls back to previous day’s forecast, no crash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ADD YOUR RESULT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ADD PASS/FAIL + evidence link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Unauthenticated request to inventory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Request rejected with 401/403, no data returned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ADD YOUR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ADD PASS/FAIL + evidence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704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189008F-2DBF-4972-AB01-DE28247336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FDDA70-F386-4C97-9452-8AB091CF2DF7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7C618C7-8CAD-47E3-BA99-38618208675D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4A787-E350-4CFC-8820-D90D30D1E0C6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EBDA95-EA0B-4281-AB39-944E340E607B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Security, Privacy, Sustainability and Standards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38D334-2B00-416F-AD3B-95BAD0D2C919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Show how the product protects users and uses cloud resources responsibly.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905D29-EEE1-42FB-8072-9AACCD432125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3E3CB-C6D1-4D54-9DF1-385996D14695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FF93FE-E912-403A-AD25-5DA2B32C316A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9382F3-D1B5-43C3-B783-FB568D9D3177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6C1E3A-8692-493C-991C-43C647BDBF5A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09B5B-834B-41A8-A09F-5D9F1BDAC74A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F244A-0C34-4CE2-8481-86B14737FE35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A46A23-9345-44C6-B61A-34C0D0FA06C5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SECURITY AND PRIVACY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FC21B3-C4CA-4B75-B141-3640817A90BA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Cognito-issued JWTs with store/regional role scopes; TLS 1.2+ in transit and RDS/S3 encryption at rest; secrets in AWS Secrets Manager; CloudTrail audit log of admin actions.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37DCE7-89DF-436D-9563-5AE7478E53F8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700D61-15AF-4558-A5CE-BB9B42EED791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3DC857-AB08-4A7B-8728-16A8FD5E92AC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SUSTAINABLE CLOUD USE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6749F4-2A5F-4B01-A4AC-8046FA3388E1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Fargate/Lambda scale to zero outside store hours; S3 lifecycle rules move 90+ day sales history to cold storage; forecasting runs once nightly instead of continuous polling to cut idle compute and carbon footprint.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23B267-E35A-43F2-BD5D-D238EE6D0627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7EC20D-1255-4AA0-9C90-4FCA83FAFD47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6E44DC-1D40-454A-9008-72773AE8F01B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STANDARDS AND RESPONSIBILITY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A03B96-8B54-4C4D-95AE-C2A6C1792044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Follows OWASP API security practices and accessible dashboard design for store staff; forecast outputs log feature importances to keep automated reorder decisions explainable; data scope limited to store-level sales, no customer PII.</a:t>
            </a:r>
          </a:p>
        </p:txBody>
      </p:sp>
    </p:spTree>
    <p:extLst>
      <p:ext uri="{BB962C8B-B14F-4D97-AF65-F5344CB8AC3E}">
        <p14:creationId xmlns:p14="http://schemas.microsoft.com/office/powerpoint/2010/main" val="1528069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7415176-A534-41C1-93AB-182B265EDC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4B75AFE-D4BE-4411-A4C1-840177585889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982BF96-D1AB-45A8-A8EE-A152B914F5A2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A4AA0-822D-4982-999A-51A89769184B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158CAF-8E43-4B64-B5D4-C1AC218B0534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Conclusion and Production Roadmap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B18C8-89BC-4C07-9515-4D250A2912AB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Separate what is proven today from what is required for pilot and production readiness.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A2589-2926-40FB-93C4-1136BDFFB601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CEA3C-9505-4476-9486-205A8D194BF4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7AD755-D4CE-41FD-9F31-388DB831ABDA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6B34C0-334A-4F5A-92C3-841C75FC24E0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E2C589-35F0-413C-BBF3-693597F7520B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5AD3A6-2CF3-42DB-814F-5B404D54E7A9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EC64A4-7533-4612-B1DD-7917D7BBFE14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8E0862-B5D8-4D48-A961-2C3B04E3E7F5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PROVEN NOW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90DCEC-CBE8-47EE-A4DE-3C2D550A6777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Real-time stock sync, ML-based 7-day demand forecast, and automated stockout alerts working end-to-end on a live cloud deployment, with compute that scales down outside store hours.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76751B-818A-4A47-993C-786B70AA6F55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3F4C26-3652-46F5-AF01-CA42B92AB884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55B21C-E035-4884-B7A0-F0E112DF62EE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KNOWN LIMITATIONS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C0771C-BA9D-4B9D-A168-BCC533B530BE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Forecast trained on a limited pilot dataset (cold-start SKUs less accurate); reorder engine only drafts POs and doesn’t yet integrate with supplier ERPs; single-region deployment with no failover.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91046A-E29D-49A5-88BE-D1DECE2C0D1C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007422-BD66-42E3-BDE0-F033F7C4768A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DF6604-B536-452C-9127-4BBC19632A06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PRODUCTION ROADMAP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602163-09E9-4C59-AAFA-7AB9DD468114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30 days: Onboard 2-3 pilot stores and collect live feedback on alert accuracy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60 days: Integrate supplier ERP/API for automatic PO submission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90 days: Add multi-region deployment and expand forecasting to the full SKU catalog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Production gate: sustained MAPE &lt;=10% and &lt;2% false-alert rate across two full retail cycles before full rollout</a:t>
            </a:r>
          </a:p>
        </p:txBody>
      </p:sp>
    </p:spTree>
    <p:extLst>
      <p:ext uri="{BB962C8B-B14F-4D97-AF65-F5344CB8AC3E}">
        <p14:creationId xmlns:p14="http://schemas.microsoft.com/office/powerpoint/2010/main" val="128405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91B82C8-5ED9-4AC0-BC6B-F7542A2D4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4731360-0426-4971-83D0-02F753F88F50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3ED1C06-8F9A-4260-9660-F97EB38D1CB2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C3AD50-AB9A-4C6F-A324-074AA3DBFED4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55F268-26C0-4C68-9C5B-A28972D5850C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References and Project Artefacts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4B20F4-A690-4614-9D5C-14765056FB42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Provide traceable sources and direct links to the complete engineering evidence.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E09D79-C8B1-4362-B532-27B57454D1F8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2A70AB-8E7B-41A7-ACC9-6DCFAF665B94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EED6F5-0E76-4239-BA39-4BFB38368C2C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B0F4E9-A2E8-41CB-A085-8971792622F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81905F-F783-4941-9AD1-E285D6F13C0B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A3EDF5-C202-44C8-A40A-307F74D4D6AC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A7FBB6-47C8-4D48-8B07-DA9971C07ECB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683C52-2FB8-4539-89B2-763D27646A36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REFERENCES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8D9922-0FF0-484D-AEE8-CA34232C4DF8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ADD YOUR IEEE/APA-FORMATTED REFERENCES FROM YOUR LITERATURE REVIEW (see Slide 3 sources).</a:t>
            </a:r>
          </a:p>
          <a:p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Include papers, datasets, APIs, standards and cloud documentation. Use consistent citation style and working links.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359FA9-AD44-4102-B048-54602CC89686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CC089A-620B-46DC-BFE1-F1FF1557B83C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FC5DF6-F042-42D3-A658-0E53A4F040E1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PROJECT ARTEFACTS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B46722-CA8B-4B50-9285-C7F0AEC6AA1C}"/>
              </a:ext>
            </a:extLst>
          </p:cNvPr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GitHub repository: ADD LINK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Live deployment: ADD LINK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Demo video: ADD LINK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Dataset / API: ADD (e.g., pilot store POS export / public retail dataset used for training)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Architecture source: ADD (Terraform/SAM repo or diagram link)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Test report: ADD LINK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User / setup documentation: ADD LINK</a:t>
            </a:r>
          </a:p>
        </p:txBody>
      </p:sp>
    </p:spTree>
    <p:extLst>
      <p:ext uri="{BB962C8B-B14F-4D97-AF65-F5344CB8AC3E}">
        <p14:creationId xmlns:p14="http://schemas.microsoft.com/office/powerpoint/2010/main" val="2103166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E830572-2B6E-4843-8324-FEB3FE1EAF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56ABDB2-2E56-4D1C-A19E-76D21D910991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E96BAEE-A609-4FE2-820B-7F40B4020045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4C005-354A-4006-9A32-E13D125786A9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322D6E-E139-433F-900B-EC9C53086C57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Final Infrastructure Defense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10B87-7EE5-4752-98E1-06EBA2B08646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Close with the problem, decisive architecture choice, evidence and measurable impact.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9C816F-4B23-48A4-8A4B-8D9A9C9B35A6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4A3ED9-C800-4926-856A-2B74684621D3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03767F-DE32-4B54-833C-61DE15A56975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70488D-14EB-4EF5-A67A-2C9C5F1E9C94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92418E-1E77-4F16-BD7F-E85DBE480173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31B9EA-9E37-49EB-B239-BEB461AB3B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653A2B5-B18C-4761-A8D0-F981873ACAEC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8CBE589-1C34-4B9A-AE43-174BED8706C3}"/>
              </a:ext>
            </a:extLst>
          </p:cNvPr>
          <p:cNvSpPr>
            <a:spLocks noGrp="1"/>
          </p:cNvSpPr>
          <p:nvPr/>
        </p:nvSpPr>
        <p:spPr>
          <a:xfrm>
            <a:off x="1676400" y="3810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D39216"/>
                </a:solidFill>
              </a:defRPr>
            </a:pPr>
            <a:r>
              <a:rPr sz="1050" b="1">
                <a:solidFill>
                  <a:srgbClr val="D39216"/>
                </a:solidFill>
              </a:rPr>
              <a:t>FINAL INFRASTRUCTURE DEFENSE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B00316-8891-4C7C-BB6B-55AF17867D0C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RetailPulse: Green Cloud Inventory System with Demand Forecasting and Stockout Prevention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F3CB5C-09E4-4A74-A831-CBF2DB3FB917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DCEAF3"/>
                </a:solidFill>
              </a:defRPr>
            </a:pPr>
            <a:r>
              <a:rPr sz="1350" b="0">
                <a:solidFill>
                  <a:srgbClr val="DCEAF3"/>
                </a:solidFill>
              </a:rPr>
              <a:t>Close with one defensible sentence for each decision.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D9DF91-17DE-432A-AB0B-13DD48E86643}"/>
              </a:ext>
            </a:extLst>
          </p:cNvPr>
          <p:cNvSpPr>
            <a:spLocks noGrp="1"/>
          </p:cNvSpPr>
          <p:nvPr/>
        </p:nvSpPr>
        <p:spPr>
          <a:xfrm>
            <a:off x="514350" y="2647950"/>
            <a:ext cx="2562225" cy="180975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25F6B4-071B-43CC-BCBC-53AB5A5E5333}"/>
              </a:ext>
            </a:extLst>
          </p:cNvPr>
          <p:cNvSpPr>
            <a:spLocks noGrp="1"/>
          </p:cNvSpPr>
          <p:nvPr/>
        </p:nvSpPr>
        <p:spPr>
          <a:xfrm>
            <a:off x="704850" y="283845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  PROBLEM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8F9339-D870-416A-8651-A3A563FB7B6F}"/>
              </a:ext>
            </a:extLst>
          </p:cNvPr>
          <p:cNvSpPr>
            <a:spLocks noGrp="1"/>
          </p:cNvSpPr>
          <p:nvPr/>
        </p:nvSpPr>
        <p:spPr>
          <a:xfrm>
            <a:off x="704850" y="3276600"/>
            <a:ext cx="2181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Regional retailers lose sales to stockouts and margin to overstock because inventory visibility is manual and end-of-day.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BF91F7-514F-4C8D-9976-4324F675E392}"/>
              </a:ext>
            </a:extLst>
          </p:cNvPr>
          <p:cNvSpPr>
            <a:spLocks noGrp="1"/>
          </p:cNvSpPr>
          <p:nvPr/>
        </p:nvSpPr>
        <p:spPr>
          <a:xfrm>
            <a:off x="3305175" y="2647950"/>
            <a:ext cx="2562225" cy="180975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D63708-619F-45EC-A8BC-936EE3D1E62D}"/>
              </a:ext>
            </a:extLst>
          </p:cNvPr>
          <p:cNvSpPr>
            <a:spLocks noGrp="1"/>
          </p:cNvSpPr>
          <p:nvPr/>
        </p:nvSpPr>
        <p:spPr>
          <a:xfrm>
            <a:off x="3495675" y="283845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  ARCHITECTURE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2ABCCF-732D-4B89-A9FF-1EC208087AC0}"/>
              </a:ext>
            </a:extLst>
          </p:cNvPr>
          <p:cNvSpPr>
            <a:spLocks noGrp="1"/>
          </p:cNvSpPr>
          <p:nvPr/>
        </p:nvSpPr>
        <p:spPr>
          <a:xfrm>
            <a:off x="3495675" y="3276600"/>
            <a:ext cx="2181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Event-driven microservices on auto-scaling AWS Fargate/Lambda keep compute proportional to store traffic while giving near-real-time stock visibility.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D3964C-ADB5-40E2-A0B9-B481BDA37C38}"/>
              </a:ext>
            </a:extLst>
          </p:cNvPr>
          <p:cNvSpPr>
            <a:spLocks noGrp="1"/>
          </p:cNvSpPr>
          <p:nvPr/>
        </p:nvSpPr>
        <p:spPr>
          <a:xfrm>
            <a:off x="6096000" y="2647950"/>
            <a:ext cx="2562225" cy="180975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9B6770-B53B-4CE8-BE13-C167F4C22721}"/>
              </a:ext>
            </a:extLst>
          </p:cNvPr>
          <p:cNvSpPr>
            <a:spLocks noGrp="1"/>
          </p:cNvSpPr>
          <p:nvPr/>
        </p:nvSpPr>
        <p:spPr>
          <a:xfrm>
            <a:off x="6286500" y="283845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  EVIDENCE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2679CD-AC4D-4233-A517-6CCDB948FAF2}"/>
              </a:ext>
            </a:extLst>
          </p:cNvPr>
          <p:cNvSpPr>
            <a:spLocks noGrp="1"/>
          </p:cNvSpPr>
          <p:nvPr/>
        </p:nvSpPr>
        <p:spPr>
          <a:xfrm>
            <a:off x="6286500" y="3276600"/>
            <a:ext cx="2181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End-to-end working pipeline — sync, forecast, alert — validated against simulated store traffic. ADD your strongest measured result here.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E21867-D3BD-4101-B16A-7E6C460C71FB}"/>
              </a:ext>
            </a:extLst>
          </p:cNvPr>
          <p:cNvSpPr>
            <a:spLocks noGrp="1"/>
          </p:cNvSpPr>
          <p:nvPr/>
        </p:nvSpPr>
        <p:spPr>
          <a:xfrm>
            <a:off x="8886825" y="2647950"/>
            <a:ext cx="2562225" cy="1809750"/>
          </a:xfrm>
          <a:prstGeom prst="rect">
            <a:avLst/>
          </a:prstGeom>
          <a:solidFill>
            <a:srgbClr val="D39216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05AF17-5C09-4450-AD68-AC588DFB1952}"/>
              </a:ext>
            </a:extLst>
          </p:cNvPr>
          <p:cNvSpPr>
            <a:spLocks noGrp="1"/>
          </p:cNvSpPr>
          <p:nvPr/>
        </p:nvSpPr>
        <p:spPr>
          <a:xfrm>
            <a:off x="9077325" y="283845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  IMPACT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BE0ABB-36BB-40A8-9F4F-FBD3EAB94D78}"/>
              </a:ext>
            </a:extLst>
          </p:cNvPr>
          <p:cNvSpPr>
            <a:spLocks noGrp="1"/>
          </p:cNvSpPr>
          <p:nvPr/>
        </p:nvSpPr>
        <p:spPr>
          <a:xfrm>
            <a:off x="9077325" y="3276600"/>
            <a:ext cx="2181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Fewer stockouts, less overstock waste, and lower idle cloud cost — supporting SDG 12, Responsible Consumption and Production.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C97918-8B8A-4EA2-8329-EBA0C0A20885}"/>
              </a:ext>
            </a:extLst>
          </p:cNvPr>
          <p:cNvSpPr>
            <a:spLocks noGrp="1"/>
          </p:cNvSpPr>
          <p:nvPr/>
        </p:nvSpPr>
        <p:spPr>
          <a:xfrm>
            <a:off x="514350" y="4762500"/>
            <a:ext cx="10934700" cy="1066800"/>
          </a:xfrm>
          <a:prstGeom prst="rect">
            <a:avLst/>
          </a:prstGeom>
          <a:solidFill>
            <a:srgbClr val="123C60"/>
          </a:solidFill>
          <a:ln w="9525">
            <a:solidFill>
              <a:srgbClr val="5E87A5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2601EF-4ECC-492C-ABCB-5096D499AB13}"/>
              </a:ext>
            </a:extLst>
          </p:cNvPr>
          <p:cNvSpPr>
            <a:spLocks noGrp="1"/>
          </p:cNvSpPr>
          <p:nvPr/>
        </p:nvSpPr>
        <p:spPr>
          <a:xfrm>
            <a:off x="742950" y="49244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FINAL DEFENSE STATEMENT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9FCCAC-1BE3-41F0-AE06-F7BDA3544CA2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10325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Ready for a pilot with a small store set; before full production it needs supplier-ERP integration, broader training data, and multi-region resilience.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633B18-D7AB-4693-AAAB-562A59A1C072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10934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THANK YOU  |  QUESTIONS AND TECHNICAL DEFENSE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D82457-F3B2-4A4E-9E2D-CD39B2EE78CC}"/>
              </a:ext>
            </a:extLst>
          </p:cNvPr>
          <p:cNvSpPr>
            <a:spLocks noGrp="1"/>
          </p:cNvSpPr>
          <p:nvPr/>
        </p:nvSpPr>
        <p:spPr>
          <a:xfrm>
            <a:off x="4191000" y="6705600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</p:spTree>
    <p:extLst>
      <p:ext uri="{BB962C8B-B14F-4D97-AF65-F5344CB8AC3E}">
        <p14:creationId xmlns:p14="http://schemas.microsoft.com/office/powerpoint/2010/main" val="643994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5190</Words>
  <Application>Microsoft Office PowerPoint</Application>
  <DocSecurity>0</DocSecurity>
  <PresentationFormat>Custom</PresentationFormat>
  <Paragraphs>545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CSA15 Capstone Project Final Presentation Template</dc:title>
  <dc:subject>Cloud Computing and Big Data Analytics</dc:subject>
  <dc:creator>Dr. C. Rajesh Babu</dc:creator>
  <dc:description>Professional student final presentation template for CSA15. Faculty owner: Dr. C. Rajesh Babu, SSETSCS415.</dc:description>
  <cp:lastModifiedBy>HEMALATHA GOPI</cp:lastModifiedBy>
  <cp:revision>5</cp:revision>
  <dcterms:created xsi:type="dcterms:W3CDTF">2026-08-27T05:21:13Z</dcterms:created>
  <dcterms:modified xsi:type="dcterms:W3CDTF">2026-09-03T08:48:26Z</dcterms:modified>
</cp:coreProperties>
</file>